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69f4e88f17405f" /><Relationship Type="http://schemas.openxmlformats.org/officeDocument/2006/relationships/extended-properties" Target="/docProps/app.xml" Id="R0839e77fd0e54958" /><Relationship Type="http://schemas.openxmlformats.org/officeDocument/2006/relationships/officeDocument" Target="/ppt/presentation.xml" Id="Rb25ed30fa90945e5" /></Relationships>
</file>

<file path=ppt/presentation.xml><?xml version="1.0" encoding="utf-8"?>
<p:presentation xmlns:p="http://schemas.openxmlformats.org/presentationml/2006/main">
  <p:sldMasterIdLst>
    <p:sldMasterId xmlns:r="http://schemas.openxmlformats.org/officeDocument/2006/relationships" id="2147483648" r:id="R35ccb9a8f01941b6"/>
  </p:sldMasterIdLst>
  <p:notesMasterIdLst>
    <p:notesMasterId xmlns:r="http://schemas.openxmlformats.org/officeDocument/2006/relationships" r:id="R10343449abc14fad"/>
  </p:notesMasterIdLst>
  <p:sldIdLst>
    <p:sldId xmlns:r="http://schemas.openxmlformats.org/officeDocument/2006/relationships" id="256" r:id="Rf9ad65e905034a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79e39fcc1a4c38" /><Relationship Type="http://schemas.openxmlformats.org/officeDocument/2006/relationships/slideMaster" Target="/ppt/slideMasters/slideMaster1.xml" Id="R35ccb9a8f01941b6" /><Relationship Type="http://schemas.openxmlformats.org/officeDocument/2006/relationships/notesMaster" Target="/ppt/notesMasters/notesMaster1.xml" Id="R10343449abc14fad" /><Relationship Type="http://schemas.openxmlformats.org/officeDocument/2006/relationships/presProps" Target="/ppt/presProps.xml" Id="Rf44fdfa331c34eca" /><Relationship Type="http://schemas.openxmlformats.org/officeDocument/2006/relationships/tableStyles" Target="/ppt/tableStyles.xml" Id="R3001d9af88274fca" /><Relationship Type="http://schemas.openxmlformats.org/officeDocument/2006/relationships/slide" Target="/ppt/slides/slide1.xml" Id="Rf9ad65e905034a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dc5972be4124e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c60c01f76548c2" /><Relationship Type="http://schemas.openxmlformats.org/officeDocument/2006/relationships/notesMaster" Target="/ppt/notesMasters/notesMaster1.xml" Id="R5c3cfde0fbc547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sử dụng C-Pack-IPAs để xây dựng gói bằng chứng gồm 69 cụm với 2.151 bài nộp. Trong bộ rà soát 150 bài, AI đề xuất nhãn và người dùng kiểm tra lại code cùng kết quả test để xác nhận. Sáu bài vẫn giữ trạng thái chưa đủ căn cứ gán nhãn. Đây là bộ tham chiếu của dự án, chưa phải kết quả đánh giá độc lập từ nhiều giảng viên.</a:t>
            </a:r>
          </a:p>
          <a:p xmlns:a="http://schemas.openxmlformats.org/drawingml/2006/main">
            <a:r>
              <a:t/>
            </a:r>
          </a:p>
          <a:p xmlns:a="http://schemas.openxmlformats.org/drawingml/2006/main">
            <a:r>
              <a:t>Nguồn nội bộ: deliverables/De5_Annotation_20260928/cpack/evidence.json (69 cụm; tổng n_submissions = 2151); deliverables/De5_CPack/gold_reference.json (150 records; 6 gold_label null). Các số liệu mô tả gói bằng chứng và bộ rà soát, không phải quy mô toàn bộ corpus gốc hay độ chính xác mô hình.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8371ff7aec4b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0ec3d7d3a994502" /><Relationship Type="http://schemas.openxmlformats.org/officeDocument/2006/relationships/slideLayout" Target="/ppt/slideLayouts/slideLayout1.xml" Id="Re69d25c2ca30496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9d25c2ca30496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76890ced27848a5" /><Relationship Type="http://schemas.openxmlformats.org/officeDocument/2006/relationships/notesSlide" Target="/ppt/notesSlides/notesSlide1.xml" Id="Re618c33e0e794d41" /></Relationships>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81F94CB-8077-4502-8DCA-A1C8CF98AD66}"/>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237563"/>
                </a:solidFill>
                <a:latin typeface="Arial"/>
                <a:ea typeface="Arial"/>
                <a:cs typeface="Arial"/>
              </a:defRPr>
            </a:pPr>
            <a:r>
              <a:rPr sz="1200" b="1">
                <a:solidFill>
                  <a:srgbClr val="237563"/>
                </a:solidFill>
                <a:latin typeface="Arial"/>
                <a:ea typeface="Arial"/>
                <a:cs typeface="Arial"/>
              </a:rPr>
              <a:t>DỮ LIỆU VÀ XÁC THỰC NHÃN</a:t>
            </a:r>
          </a:p>
        </p:txBody>
      </p:sp>
      <p:sp>
        <p:nvSpPr>
          <p:cNvPr id="2" name="">
            <a:extLst xmlns:a="http://schemas.openxmlformats.org/drawingml/2006/main">
              <a:ext uri="{FF2B5EF4-FFF2-40B4-BE49-F238E27FC236}">
                <a16:creationId xmlns:a16="http://schemas.microsoft.com/office/drawing/2014/main" id="{FAE12F37-81FD-4C29-BA97-4FC6FE82AF46}"/>
              </a:ext>
            </a:extLst>
          </p:cNvPr>
          <p:cNvSpPr>
            <a:spLocks xmlns:a="http://schemas.openxmlformats.org/drawingml/2006/main" noGrp="1"/>
          </p:cNvSpPr>
          <p:nvPr/>
        </p:nvSpPr>
        <p:spPr>
          <a:xfrm xmlns:a="http://schemas.openxmlformats.org/drawingml/2006/main">
            <a:off x="762000" y="9334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93F39"/>
                </a:solidFill>
                <a:latin typeface="Arial"/>
                <a:ea typeface="Arial"/>
                <a:cs typeface="Arial"/>
              </a:defRPr>
            </a:pPr>
            <a:r>
              <a:rPr sz="3300" b="1">
                <a:solidFill>
                  <a:srgbClr val="193F39"/>
                </a:solidFill>
                <a:latin typeface="Arial"/>
                <a:ea typeface="Arial"/>
                <a:cs typeface="Arial"/>
              </a:rPr>
              <a:t>Bộ dữ liệu C-Pack-IPAs</a:t>
            </a:r>
          </a:p>
        </p:txBody>
      </p:sp>
      <p:sp>
        <p:nvSpPr>
          <p:cNvPr id="3" name="">
            <a:extLst xmlns:a="http://schemas.openxmlformats.org/drawingml/2006/main">
              <a:ext uri="{FF2B5EF4-FFF2-40B4-BE49-F238E27FC236}">
                <a16:creationId xmlns:a16="http://schemas.microsoft.com/office/drawing/2014/main" id="{572963C1-846D-4928-A65C-6A8926D8244D}"/>
              </a:ext>
            </a:extLst>
          </p:cNvPr>
          <p:cNvSpPr>
            <a:spLocks xmlns:a="http://schemas.openxmlformats.org/drawingml/2006/main" noGrp="1"/>
          </p:cNvSpPr>
          <p:nvPr/>
        </p:nvSpPr>
        <p:spPr>
          <a:xfrm xmlns:a="http://schemas.openxmlformats.org/drawingml/2006/main">
            <a:off x="762000" y="2095500"/>
            <a:ext cx="2381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37563"/>
                </a:solidFill>
                <a:latin typeface="Arial"/>
                <a:ea typeface="Arial"/>
                <a:cs typeface="Arial"/>
              </a:defRPr>
            </a:pPr>
            <a:r>
              <a:rPr sz="5400" b="1">
                <a:solidFill>
                  <a:srgbClr val="237563"/>
                </a:solidFill>
                <a:latin typeface="Arial"/>
                <a:ea typeface="Arial"/>
                <a:cs typeface="Arial"/>
              </a:rPr>
              <a:t>69</a:t>
            </a:r>
          </a:p>
        </p:txBody>
      </p:sp>
      <p:sp>
        <p:nvSpPr>
          <p:cNvPr id="4" name="">
            <a:extLst xmlns:a="http://schemas.openxmlformats.org/drawingml/2006/main">
              <a:ext uri="{FF2B5EF4-FFF2-40B4-BE49-F238E27FC236}">
                <a16:creationId xmlns:a16="http://schemas.microsoft.com/office/drawing/2014/main" id="{339AFACA-134D-4C27-9A11-2B5EF9AD6084}"/>
              </a:ext>
            </a:extLst>
          </p:cNvPr>
          <p:cNvSpPr>
            <a:spLocks xmlns:a="http://schemas.openxmlformats.org/drawingml/2006/main" noGrp="1"/>
          </p:cNvSpPr>
          <p:nvPr/>
        </p:nvSpPr>
        <p:spPr>
          <a:xfrm xmlns:a="http://schemas.openxmlformats.org/drawingml/2006/main">
            <a:off x="762000" y="2990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F39"/>
                </a:solidFill>
                <a:latin typeface="Arial"/>
                <a:ea typeface="Arial"/>
                <a:cs typeface="Arial"/>
              </a:defRPr>
            </a:pPr>
            <a:r>
              <a:rPr sz="1875" b="0">
                <a:solidFill>
                  <a:srgbClr val="193F39"/>
                </a:solidFill>
                <a:latin typeface="Arial"/>
                <a:ea typeface="Arial"/>
                <a:cs typeface="Arial"/>
              </a:rPr>
              <a:t>cụm trong gói bằng chứng</a:t>
            </a:r>
          </a:p>
        </p:txBody>
      </p:sp>
      <p:sp>
        <p:nvSpPr>
          <p:cNvPr id="5" name="">
            <a:extLst xmlns:a="http://schemas.openxmlformats.org/drawingml/2006/main">
              <a:ext uri="{FF2B5EF4-FFF2-40B4-BE49-F238E27FC236}">
                <a16:creationId xmlns:a16="http://schemas.microsoft.com/office/drawing/2014/main" id="{5073B219-22E4-4198-B5E8-95E1BB995946}"/>
              </a:ext>
            </a:extLst>
          </p:cNvPr>
          <p:cNvSpPr>
            <a:spLocks xmlns:a="http://schemas.openxmlformats.org/drawingml/2006/main" noGrp="1"/>
          </p:cNvSpPr>
          <p:nvPr/>
        </p:nvSpPr>
        <p:spPr>
          <a:xfrm xmlns:a="http://schemas.openxmlformats.org/drawingml/2006/main">
            <a:off x="4476750" y="2095500"/>
            <a:ext cx="295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37563"/>
                </a:solidFill>
                <a:latin typeface="Arial"/>
                <a:ea typeface="Arial"/>
                <a:cs typeface="Arial"/>
              </a:defRPr>
            </a:pPr>
            <a:r>
              <a:rPr sz="5400" b="1">
                <a:solidFill>
                  <a:srgbClr val="237563"/>
                </a:solidFill>
                <a:latin typeface="Arial"/>
                <a:ea typeface="Arial"/>
                <a:cs typeface="Arial"/>
              </a:rPr>
              <a:t>2.151</a:t>
            </a:r>
          </a:p>
        </p:txBody>
      </p:sp>
      <p:sp>
        <p:nvSpPr>
          <p:cNvPr id="6" name="">
            <a:extLst xmlns:a="http://schemas.openxmlformats.org/drawingml/2006/main">
              <a:ext uri="{FF2B5EF4-FFF2-40B4-BE49-F238E27FC236}">
                <a16:creationId xmlns:a16="http://schemas.microsoft.com/office/drawing/2014/main" id="{9464100F-5438-4E86-AFF9-1605E430DDE9}"/>
              </a:ext>
            </a:extLst>
          </p:cNvPr>
          <p:cNvSpPr>
            <a:spLocks xmlns:a="http://schemas.openxmlformats.org/drawingml/2006/main" noGrp="1"/>
          </p:cNvSpPr>
          <p:nvPr/>
        </p:nvSpPr>
        <p:spPr>
          <a:xfrm xmlns:a="http://schemas.openxmlformats.org/drawingml/2006/main">
            <a:off x="4476750" y="2990850"/>
            <a:ext cx="304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F39"/>
                </a:solidFill>
                <a:latin typeface="Arial"/>
                <a:ea typeface="Arial"/>
                <a:cs typeface="Arial"/>
              </a:defRPr>
            </a:pPr>
            <a:r>
              <a:rPr sz="1875" b="0">
                <a:solidFill>
                  <a:srgbClr val="193F39"/>
                </a:solidFill>
                <a:latin typeface="Arial"/>
                <a:ea typeface="Arial"/>
                <a:cs typeface="Arial"/>
              </a:rPr>
              <a:t>bài nộp trong gói</a:t>
            </a:r>
          </a:p>
        </p:txBody>
      </p:sp>
      <p:sp>
        <p:nvSpPr>
          <p:cNvPr id="7" name="">
            <a:extLst xmlns:a="http://schemas.openxmlformats.org/drawingml/2006/main">
              <a:ext uri="{FF2B5EF4-FFF2-40B4-BE49-F238E27FC236}">
                <a16:creationId xmlns:a16="http://schemas.microsoft.com/office/drawing/2014/main" id="{7917A124-9641-41DA-850E-509106B1DA96}"/>
              </a:ext>
            </a:extLst>
          </p:cNvPr>
          <p:cNvSpPr>
            <a:spLocks xmlns:a="http://schemas.openxmlformats.org/drawingml/2006/main" noGrp="1"/>
          </p:cNvSpPr>
          <p:nvPr/>
        </p:nvSpPr>
        <p:spPr>
          <a:xfrm xmlns:a="http://schemas.openxmlformats.org/drawingml/2006/main">
            <a:off x="8191500" y="2095500"/>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37563"/>
                </a:solidFill>
                <a:latin typeface="Arial"/>
                <a:ea typeface="Arial"/>
                <a:cs typeface="Arial"/>
              </a:defRPr>
            </a:pPr>
            <a:r>
              <a:rPr sz="5400" b="1">
                <a:solidFill>
                  <a:srgbClr val="237563"/>
                </a:solidFill>
                <a:latin typeface="Arial"/>
                <a:ea typeface="Arial"/>
                <a:cs typeface="Arial"/>
              </a:rPr>
              <a:t>150</a:t>
            </a:r>
          </a:p>
        </p:txBody>
      </p:sp>
      <p:sp>
        <p:nvSpPr>
          <p:cNvPr id="8" name="">
            <a:extLst xmlns:a="http://schemas.openxmlformats.org/drawingml/2006/main">
              <a:ext uri="{FF2B5EF4-FFF2-40B4-BE49-F238E27FC236}">
                <a16:creationId xmlns:a16="http://schemas.microsoft.com/office/drawing/2014/main" id="{9D9731DB-4024-4466-A809-E11F3C455F32}"/>
              </a:ext>
            </a:extLst>
          </p:cNvPr>
          <p:cNvSpPr>
            <a:spLocks xmlns:a="http://schemas.openxmlformats.org/drawingml/2006/main" noGrp="1"/>
          </p:cNvSpPr>
          <p:nvPr/>
        </p:nvSpPr>
        <p:spPr>
          <a:xfrm xmlns:a="http://schemas.openxmlformats.org/drawingml/2006/main">
            <a:off x="8191500" y="299085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F39"/>
                </a:solidFill>
                <a:latin typeface="Arial"/>
                <a:ea typeface="Arial"/>
                <a:cs typeface="Arial"/>
              </a:defRPr>
            </a:pPr>
            <a:r>
              <a:rPr sz="1875" b="0">
                <a:solidFill>
                  <a:srgbClr val="193F39"/>
                </a:solidFill>
                <a:latin typeface="Arial"/>
                <a:ea typeface="Arial"/>
                <a:cs typeface="Arial"/>
              </a:rPr>
              <a:t>bài đã rà soát nhãn</a:t>
            </a:r>
          </a:p>
        </p:txBody>
      </p:sp>
      <p:sp>
        <p:nvSpPr>
          <p:cNvPr id="9" name="">
            <a:extLst xmlns:a="http://schemas.openxmlformats.org/drawingml/2006/main">
              <a:ext uri="{FF2B5EF4-FFF2-40B4-BE49-F238E27FC236}">
                <a16:creationId xmlns:a16="http://schemas.microsoft.com/office/drawing/2014/main" id="{0F535893-7C65-4174-B1C5-6996C8A3F81E}"/>
              </a:ext>
            </a:extLst>
          </p:cNvPr>
          <p:cNvSpPr>
            <a:spLocks xmlns:a="http://schemas.openxmlformats.org/drawingml/2006/main" noGrp="1"/>
          </p:cNvSpPr>
          <p:nvPr/>
        </p:nvSpPr>
        <p:spPr>
          <a:xfrm xmlns:a="http://schemas.openxmlformats.org/drawingml/2006/main">
            <a:off x="762000" y="40576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93F39"/>
                </a:solidFill>
                <a:latin typeface="Arial"/>
                <a:ea typeface="Arial"/>
                <a:cs typeface="Arial"/>
              </a:defRPr>
            </a:pPr>
            <a:r>
              <a:rPr sz="1950" b="1">
                <a:solidFill>
                  <a:srgbClr val="193F39"/>
                </a:solidFill>
                <a:latin typeface="Arial"/>
                <a:ea typeface="Arial"/>
                <a:cs typeface="Arial"/>
              </a:rPr>
              <a:t>AI đề xuất nhãn → Người dùng kiểm tra code và test → Xác nhận</a:t>
            </a:r>
          </a:p>
        </p:txBody>
      </p:sp>
      <p:sp>
        <p:nvSpPr>
          <p:cNvPr id="10" name="">
            <a:extLst xmlns:a="http://schemas.openxmlformats.org/drawingml/2006/main">
              <a:ext uri="{FF2B5EF4-FFF2-40B4-BE49-F238E27FC236}">
                <a16:creationId xmlns:a16="http://schemas.microsoft.com/office/drawing/2014/main" id="{2A0F8B92-1E3E-4515-BCF4-3B3C97BB4FE6}"/>
              </a:ext>
            </a:extLst>
          </p:cNvPr>
          <p:cNvSpPr>
            <a:spLocks xmlns:a="http://schemas.openxmlformats.org/drawingml/2006/main" noGrp="1"/>
          </p:cNvSpPr>
          <p:nvPr/>
        </p:nvSpPr>
        <p:spPr>
          <a:xfrm xmlns:a="http://schemas.openxmlformats.org/drawingml/2006/main">
            <a:off x="762000" y="48101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93F39"/>
                </a:solidFill>
                <a:latin typeface="Arial"/>
                <a:ea typeface="Arial"/>
                <a:cs typeface="Arial"/>
              </a:defRPr>
            </a:pPr>
            <a:r>
              <a:rPr sz="1875" b="0">
                <a:solidFill>
                  <a:srgbClr val="193F39"/>
                </a:solidFill>
                <a:latin typeface="Arial"/>
                <a:ea typeface="Arial"/>
                <a:cs typeface="Arial"/>
              </a:rPr>
              <a:t>Bộ tham chiếu đã duyệt; 6 bài vẫn chưa đủ căn cứ gán nhãn.</a:t>
            </a:r>
          </a:p>
        </p:txBody>
      </p:sp>
      <p:sp>
        <p:nvSpPr>
          <p:cNvPr id="11" name="">
            <a:extLst xmlns:a="http://schemas.openxmlformats.org/drawingml/2006/main">
              <a:ext uri="{FF2B5EF4-FFF2-40B4-BE49-F238E27FC236}">
                <a16:creationId xmlns:a16="http://schemas.microsoft.com/office/drawing/2014/main" id="{4AD47C55-CC31-43E6-BF21-31A5E1587AE1}"/>
              </a:ext>
            </a:extLst>
          </p:cNvPr>
          <p:cNvSpPr>
            <a:spLocks xmlns:a="http://schemas.openxmlformats.org/drawingml/2006/main" noGrp="1"/>
          </p:cNvSpPr>
          <p:nvPr/>
        </p:nvSpPr>
        <p:spPr>
          <a:xfrm xmlns:a="http://schemas.openxmlformats.org/drawingml/2006/main">
            <a:off x="762000" y="58197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37563"/>
                </a:solidFill>
                <a:latin typeface="Arial"/>
                <a:ea typeface="Arial"/>
                <a:cs typeface="Arial"/>
              </a:defRPr>
            </a:pPr>
            <a:r>
              <a:rPr sz="1725" b="1">
                <a:solidFill>
                  <a:srgbClr val="237563"/>
                </a:solidFill>
                <a:latin typeface="Arial"/>
                <a:ea typeface="Arial"/>
                <a:cs typeface="Arial"/>
              </a:rPr>
              <a:t>Chưa phải đánh giá độc lập nhiều giảng viên.</a:t>
            </a:r>
          </a:p>
        </p:txBody>
      </p:sp>
    </p:spTree>
    <p:extLst>
      <p:ext uri="{BB962C8B-B14F-4D97-AF65-F5344CB8AC3E}">
        <p14:creationId xmlns:p14="http://schemas.microsoft.com/office/powerpoint/2010/main" val="9428672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2026-09-29T16:38:18.3140000Z</dcterms:created>
  <dcterms:modified xsi:type="dcterms:W3CDTF">2026-09-29T16:38:18.3140000Z</dcterms:modified>
</coreProperties>
</file>