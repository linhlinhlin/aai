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063cb2bec5499f" /><Relationship Type="http://schemas.openxmlformats.org/officeDocument/2006/relationships/extended-properties" Target="/docProps/app.xml" Id="Rdaf346f2d0e24054" /><Relationship Type="http://schemas.openxmlformats.org/officeDocument/2006/relationships/officeDocument" Target="/ppt/presentation.xml" Id="R505003d6832343a7" /></Relationships>
</file>

<file path=ppt/presentation.xml><?xml version="1.0" encoding="utf-8"?>
<p:presentation xmlns:p="http://schemas.openxmlformats.org/presentationml/2006/main">
  <p:sldMasterIdLst>
    <p:sldMasterId xmlns:r="http://schemas.openxmlformats.org/officeDocument/2006/relationships" id="2147483648" r:id="Ra629c1e063a94e4b"/>
  </p:sldMasterIdLst>
  <p:notesMasterIdLst>
    <p:notesMasterId xmlns:r="http://schemas.openxmlformats.org/officeDocument/2006/relationships" r:id="Re37c77fdbdd74f84"/>
  </p:notesMasterIdLst>
  <p:sldIdLst>
    <p:sldId xmlns:r="http://schemas.openxmlformats.org/officeDocument/2006/relationships" id="256" r:id="R45abc233e4224f5b"/>
    <p:sldId xmlns:r="http://schemas.openxmlformats.org/officeDocument/2006/relationships" id="257" r:id="Rb21e89a2eff44ab5"/>
    <p:sldId xmlns:r="http://schemas.openxmlformats.org/officeDocument/2006/relationships" id="258" r:id="Rf53de9eaa9e74fd4"/>
    <p:sldId xmlns:r="http://schemas.openxmlformats.org/officeDocument/2006/relationships" id="259" r:id="R4a0008473af941db"/>
    <p:sldId xmlns:r="http://schemas.openxmlformats.org/officeDocument/2006/relationships" id="260" r:id="R7795748c0e634541"/>
    <p:sldId xmlns:r="http://schemas.openxmlformats.org/officeDocument/2006/relationships" id="261" r:id="Redd95ed1175a4450"/>
    <p:sldId xmlns:r="http://schemas.openxmlformats.org/officeDocument/2006/relationships" id="262" r:id="Rdfc3c38183df459c"/>
    <p:sldId xmlns:r="http://schemas.openxmlformats.org/officeDocument/2006/relationships" id="263" r:id="Re9977ab94350446e"/>
    <p:sldId xmlns:r="http://schemas.openxmlformats.org/officeDocument/2006/relationships" id="264" r:id="Re5816bbed4a648c8"/>
    <p:sldId xmlns:r="http://schemas.openxmlformats.org/officeDocument/2006/relationships" id="265" r:id="R068800cd6fea45ab"/>
    <p:sldId xmlns:r="http://schemas.openxmlformats.org/officeDocument/2006/relationships" id="266" r:id="Reb77bb6fa12c40b3"/>
    <p:sldId xmlns:r="http://schemas.openxmlformats.org/officeDocument/2006/relationships" id="267" r:id="R69dca9d964f24256"/>
    <p:sldId xmlns:r="http://schemas.openxmlformats.org/officeDocument/2006/relationships" id="268" r:id="Rfc883ac8cafd4d2a"/>
    <p:sldId xmlns:r="http://schemas.openxmlformats.org/officeDocument/2006/relationships" id="269" r:id="R810ce091c4254555"/>
    <p:sldId xmlns:r="http://schemas.openxmlformats.org/officeDocument/2006/relationships" id="270" r:id="R3bd440c0c1684549"/>
    <p:sldId xmlns:r="http://schemas.openxmlformats.org/officeDocument/2006/relationships" id="271" r:id="R75fe6fc469414566"/>
    <p:sldId xmlns:r="http://schemas.openxmlformats.org/officeDocument/2006/relationships" id="272" r:id="R7dab4477f610413a"/>
    <p:sldId xmlns:r="http://schemas.openxmlformats.org/officeDocument/2006/relationships" id="273" r:id="R7d4e8389cb8044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56fba770a04bec" /><Relationship Type="http://schemas.openxmlformats.org/officeDocument/2006/relationships/slideMaster" Target="/ppt/slideMasters/slideMaster1.xml" Id="Ra629c1e063a94e4b" /><Relationship Type="http://schemas.openxmlformats.org/officeDocument/2006/relationships/notesMaster" Target="/ppt/notesMasters/notesMaster1.xml" Id="Re37c77fdbdd74f84" /><Relationship Type="http://schemas.openxmlformats.org/officeDocument/2006/relationships/presProps" Target="/ppt/presProps.xml" Id="R2d509c8a61e746e8" /><Relationship Type="http://schemas.openxmlformats.org/officeDocument/2006/relationships/tableStyles" Target="/ppt/tableStyles.xml" Id="R58937beaaad340c6" /><Relationship Type="http://schemas.openxmlformats.org/officeDocument/2006/relationships/slide" Target="/ppt/slides/slide1.xml" Id="R45abc233e4224f5b" /><Relationship Type="http://schemas.openxmlformats.org/officeDocument/2006/relationships/slide" Target="/ppt/slides/slide2.xml" Id="Rb21e89a2eff44ab5" /><Relationship Type="http://schemas.openxmlformats.org/officeDocument/2006/relationships/slide" Target="/ppt/slides/slide3.xml" Id="Rf53de9eaa9e74fd4" /><Relationship Type="http://schemas.openxmlformats.org/officeDocument/2006/relationships/slide" Target="/ppt/slides/slide4.xml" Id="R4a0008473af941db" /><Relationship Type="http://schemas.openxmlformats.org/officeDocument/2006/relationships/slide" Target="/ppt/slides/slide5.xml" Id="R7795748c0e634541" /><Relationship Type="http://schemas.openxmlformats.org/officeDocument/2006/relationships/slide" Target="/ppt/slides/slide6.xml" Id="Redd95ed1175a4450" /><Relationship Type="http://schemas.openxmlformats.org/officeDocument/2006/relationships/slide" Target="/ppt/slides/slide7.xml" Id="Rdfc3c38183df459c" /><Relationship Type="http://schemas.openxmlformats.org/officeDocument/2006/relationships/slide" Target="/ppt/slides/slide8.xml" Id="Re9977ab94350446e" /><Relationship Type="http://schemas.openxmlformats.org/officeDocument/2006/relationships/slide" Target="/ppt/slides/slide9.xml" Id="Re5816bbed4a648c8" /><Relationship Type="http://schemas.openxmlformats.org/officeDocument/2006/relationships/slide" Target="/ppt/slides/slide10.xml" Id="R068800cd6fea45ab" /><Relationship Type="http://schemas.openxmlformats.org/officeDocument/2006/relationships/slide" Target="/ppt/slides/slide11.xml" Id="Reb77bb6fa12c40b3" /><Relationship Type="http://schemas.openxmlformats.org/officeDocument/2006/relationships/slide" Target="/ppt/slides/slide12.xml" Id="R69dca9d964f24256" /><Relationship Type="http://schemas.openxmlformats.org/officeDocument/2006/relationships/slide" Target="/ppt/slides/slide13.xml" Id="Rfc883ac8cafd4d2a" /><Relationship Type="http://schemas.openxmlformats.org/officeDocument/2006/relationships/slide" Target="/ppt/slides/slide14.xml" Id="R810ce091c4254555" /><Relationship Type="http://schemas.openxmlformats.org/officeDocument/2006/relationships/slide" Target="/ppt/slides/slide15.xml" Id="R3bd440c0c1684549" /><Relationship Type="http://schemas.openxmlformats.org/officeDocument/2006/relationships/slide" Target="/ppt/slides/slide16.xml" Id="R75fe6fc469414566" /><Relationship Type="http://schemas.openxmlformats.org/officeDocument/2006/relationships/slide" Target="/ppt/slides/slide17.xml" Id="R7dab4477f610413a" /><Relationship Type="http://schemas.openxmlformats.org/officeDocument/2006/relationships/slide" Target="/ppt/slides/slide18.xml" Id="R7d4e8389cb8044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15ef58e1241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a7a32652ec422d" /><Relationship Type="http://schemas.openxmlformats.org/officeDocument/2006/relationships/notesMaster" Target="/ppt/notesMasters/notesMaster1.xml" Id="R0956f3c3299044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ed6d703c0147de" /><Relationship Type="http://schemas.openxmlformats.org/officeDocument/2006/relationships/notesMaster" Target="/ppt/notesMasters/notesMaster1.xml" Id="Ra29e6c2f454f4d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b338c4d6a1401e" /><Relationship Type="http://schemas.openxmlformats.org/officeDocument/2006/relationships/notesMaster" Target="/ppt/notesMasters/notesMaster1.xml" Id="R01691262923240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05dce429624555" /><Relationship Type="http://schemas.openxmlformats.org/officeDocument/2006/relationships/notesMaster" Target="/ppt/notesMasters/notesMaster1.xml" Id="R180459f79f1e40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f41f459d844566" /><Relationship Type="http://schemas.openxmlformats.org/officeDocument/2006/relationships/notesMaster" Target="/ppt/notesMasters/notesMaster1.xml" Id="Rc1b4accd004248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3524a9a3b84764" /><Relationship Type="http://schemas.openxmlformats.org/officeDocument/2006/relationships/notesMaster" Target="/ppt/notesMasters/notesMaster1.xml" Id="R523051daeeea4a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5a72c676414409" /><Relationship Type="http://schemas.openxmlformats.org/officeDocument/2006/relationships/notesMaster" Target="/ppt/notesMasters/notesMaster1.xml" Id="R09f6edce0f1343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6dfbff7ee54b45" /><Relationship Type="http://schemas.openxmlformats.org/officeDocument/2006/relationships/notesMaster" Target="/ppt/notesMasters/notesMaster1.xml" Id="R85fa3751040a45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5557141d5e493c" /><Relationship Type="http://schemas.openxmlformats.org/officeDocument/2006/relationships/notesMaster" Target="/ppt/notesMasters/notesMaster1.xml" Id="R514880597a2d4a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74da96bc67489f" /><Relationship Type="http://schemas.openxmlformats.org/officeDocument/2006/relationships/notesMaster" Target="/ppt/notesMasters/notesMaster1.xml" Id="R84aff0280e6d40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90fa9e2cf44edb" /><Relationship Type="http://schemas.openxmlformats.org/officeDocument/2006/relationships/notesMaster" Target="/ppt/notesMasters/notesMaster1.xml" Id="R18c96343985944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8bc0559cf3471b" /><Relationship Type="http://schemas.openxmlformats.org/officeDocument/2006/relationships/notesMaster" Target="/ppt/notesMasters/notesMaster1.xml" Id="R2fe8ebecdf894d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577784c19749fd" /><Relationship Type="http://schemas.openxmlformats.org/officeDocument/2006/relationships/notesMaster" Target="/ppt/notesMasters/notesMaster1.xml" Id="R49815c420cde4d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47a471947c4446" /><Relationship Type="http://schemas.openxmlformats.org/officeDocument/2006/relationships/notesMaster" Target="/ppt/notesMasters/notesMaster1.xml" Id="Red865b78cabe4c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f6f295ecda4ee5" /><Relationship Type="http://schemas.openxmlformats.org/officeDocument/2006/relationships/notesMaster" Target="/ppt/notesMasters/notesMaster1.xml" Id="R0e55419fb69146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c42676769c4273" /><Relationship Type="http://schemas.openxmlformats.org/officeDocument/2006/relationships/notesMaster" Target="/ppt/notesMasters/notesMaster1.xml" Id="Rd43387a841054c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57c95bcb91472d" /><Relationship Type="http://schemas.openxmlformats.org/officeDocument/2006/relationships/notesMaster" Target="/ppt/notesMasters/notesMaster1.xml" Id="R9d3a6c7514c842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73ec5093c341a1" /><Relationship Type="http://schemas.openxmlformats.org/officeDocument/2006/relationships/notesMaster" Target="/ppt/notesMasters/notesMaster1.xml" Id="R9c84977466f046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35 giây</a:t>
            </a:r>
          </a:p>
          <a:p xmlns:a="http://schemas.openxmlformats.org/drawingml/2006/main">
            <a:r>
              <a:t/>
            </a:r>
          </a:p>
          <a:p xmlns:a="http://schemas.openxmlformats.org/drawingml/2006/main">
            <a:r>
              <a:t>Em trình bày đề tài số 5, Misconceptions Clustering. Mục tiêu là giúp giảng viên nhìn tổng quan các nhóm bài sai thay vì phải đọc lần lượt toàn bộ bài nộp. Hệ thống đi từ bằng chứng kiểm thử và cấu trúc chương trình, tạo nhóm rồi đưa ra luật và nhận xét để người dạy xem xét. Trong phần trình bày, em dùng cụm từ biểu hiện lỗi vì một chương trình sai chưa đủ chứng minh người viết có quan niệm sai. Em sẽ giải thích bằng bài tổng từ 1 đến n, sau đó mở ứng dụng để minh họa luồng thực tế.</a:t>
            </a:r>
          </a:p>
          <a:p xmlns:a="http://schemas.openxmlformats.org/drawingml/2006/main">
            <a:r>
              <a:t/>
            </a:r>
          </a:p>
          <a:p xmlns:a="http://schemas.openxmlformats.org/drawingml/2006/main">
            <a:r>
              <a:t>Nguồn trong gói bàn giao: docs/topic5-contract.md; docs/bao_cao_de5_de_hieu.md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55 giây</a:t>
            </a:r>
          </a:p>
          <a:p xmlns:a="http://schemas.openxmlformats.org/drawingml/2006/main">
            <a:r>
              <a:t/>
            </a:r>
          </a:p>
          <a:p xmlns:a="http://schemas.openxmlformats.org/drawingml/2006/main">
            <a:r>
              <a:t>Giả sử đề yêu cầu tổng từ 1 đến n. Ba chương trình này đều sai tại n bằng 2, nhưng chúng không làm cùng một việc. Chương trình đầu in hằng, chương trình thứ hai in lại đầu vào, chương trình thứ ba dùng một công thức khác. Nếu chỉ xem fail hoặc điểm số, ta dễ gộp chúng thành cùng một lỗi. Do đó hệ thống cần giữ cả source, input, output mong đợi và output thực tế. Những câu hỏi ở cột cuối là hướng kiểm tra tiếp chứ chưa phải kết luận về người học. Ví dụ này dẫn đến nhu cầu nhóm các biểu hiện gần nhau rồi kiểm tra ý nghĩa của nhóm.</a:t>
            </a:r>
          </a:p>
          <a:p xmlns:a="http://schemas.openxmlformats.org/drawingml/2006/main">
            <a:r>
              <a:t/>
            </a:r>
          </a:p>
          <a:p xmlns:a="http://schemas.openxmlformats.org/drawingml/2006/main">
            <a:r>
              <a:t>Nguồn trong gói bàn giao: Ví dụ diễn giải; docs/demo_nghiem_thu.md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55 giây</a:t>
            </a:r>
          </a:p>
          <a:p xmlns:a="http://schemas.openxmlformats.org/drawingml/2006/main">
            <a:r>
              <a:t/>
            </a:r>
          </a:p>
          <a:p xmlns:a="http://schemas.openxmlformats.org/drawingml/2006/main">
            <a:r>
              <a:t>Đây là chuỗi chính của đề tài. Đầu tiên, hệ thống thu nhận bằng chứng. Tiếp theo là OAV, tức tổ chức mỗi bài thành các thuộc tính và giá trị. Thuật toán phân cụm dùng các thuộc tính đó để tạo nhóm không giám sát. Sau đó cây quyết định học giải thích ID nhóm bằng luật IF–THEN. Cuối cùng, giảng viên xem quy mô, đại diện, luật và căn cứ để viết nhận xét. Đăng nhập, lưu lịch sử và AI là những chức năng hỗ trợ chuỗi này. Khi nghiệm thu, em sẽ chỉ ra đủ năm bước chứ không chỉ mở giao diện hoặc trình bày một số cụm.</a:t>
            </a:r>
          </a:p>
          <a:p xmlns:a="http://schemas.openxmlformats.org/drawingml/2006/main">
            <a:r>
              <a:t/>
            </a:r>
          </a:p>
          <a:p xmlns:a="http://schemas.openxmlformats.org/drawingml/2006/main">
            <a:r>
              <a:t>Nguồn trong gói bàn giao: docs/topic5-contract.md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50 giây</a:t>
            </a:r>
          </a:p>
          <a:p xmlns:a="http://schemas.openxmlformats.org/drawingml/2006/main">
            <a:r>
              <a:t/>
            </a:r>
          </a:p>
          <a:p xmlns:a="http://schemas.openxmlformats.org/drawingml/2006/main">
            <a:r>
              <a:t>Dự án có hai luồng cần phân biệt. Luồng nghiên cứu xử lý dữ liệu công khai và log đã được ghi lại. Việc nhập log không có nghĩa em đã chạy lại toàn bộ các chương trình C lịch sử. Luồng ứng dụng nhận bài mới và chạy thật trong Docker có giới hạn. Tám bài minh họa trong demo là do dự án viết, được giữ riêng và đặt tên DEMO. Nhờ vậy, em có thể kiểm chứng chức năng mà không giả định đây là một lớp học thật. Các kết quả về học tập hay hiệu quả giảng dạy sẽ cần một nghiên cứu riêng.</a:t>
            </a:r>
          </a:p>
          <a:p xmlns:a="http://schemas.openxmlformats.org/drawingml/2006/main">
            <a:r>
              <a:t/>
            </a:r>
          </a:p>
          <a:p xmlns:a="http://schemas.openxmlformats.org/drawingml/2006/main">
            <a:r>
              <a:t>Nguồn trong gói bàn giao: research/STATE.md; docs/learning_app.md; docs/demo_nghiem_thu.md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60 giây</a:t>
            </a:r>
          </a:p>
          <a:p xmlns:a="http://schemas.openxmlformats.org/drawingml/2006/main">
            <a:r>
              <a:t/>
            </a:r>
          </a:p>
          <a:p xmlns:a="http://schemas.openxmlformats.org/drawingml/2006/main">
            <a:r>
              <a:t>Ở C-Pack-IPAs, dự án nhập 8.607 bài từ 246 định danh sinh viên và 25 bài tập. Chỉ lấy all_submissions ở snapshot đã khóa, không cộng thêm các bản sao hoặc file đã sửa. Biểu đồ cho thấy chỉ 2.392 bài có failure và đủ điều kiện cho baseline. Các nhóm còn lại được giữ đúng trạng thái để audit. Đặc biệt, thiếu log không được biến thành pass; lỗi thực thi và parse error không tự được coi là lỗi thuật toán. Con số tổng là số lần nộp, không phải số người học độc lập. Phân tuyến này quyết định chất lượng bằng chứng trước khi ta nói đến K-means.</a:t>
            </a:r>
          </a:p>
          <a:p xmlns:a="http://schemas.openxmlformats.org/drawingml/2006/main">
            <a:r>
              <a:t/>
            </a:r>
          </a:p>
          <a:p xmlns:a="http://schemas.openxmlformats.org/drawingml/2006/main">
            <a:r>
              <a:t>Nguồn trong gói bàn giao: research/STATE.md; research/data-audit/cpack-20260926.json</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55 giây</a:t>
            </a:r>
          </a:p>
          <a:p xmlns:a="http://schemas.openxmlformats.org/drawingml/2006/main">
            <a:r>
              <a:t/>
            </a:r>
          </a:p>
          <a:p xmlns:a="http://schemas.openxmlformats.org/drawingml/2006/main">
            <a:r>
              <a:t>Nếu chia ngẫu nhiên từng bài nộp, một sinh viên có thể xuất hiện ở cả train và validation với các bản sửa rất giống nhau. Vì vậy dự án nối các bài cùng sinh viên hoặc có source không rỗng giống hệt, rồi giữ toàn bộ nhóm đó trong cùng partition trên toàn corpus. ID sinh viên chỉ phục vụ chia tập và truy vết, không được dùng làm feature. Sealed test vẫn được giữ cho bước đánh giá sau. Ranh giới hiện tại còn thiếu audit những source gần giống có đổi tên biến, và chưa phải đánh giá trên họ bài toán hoàn toàn mới. Em nêu rõ hai giới hạn đó để không nói quá về khả năng tổng quát hóa.</a:t>
            </a:r>
          </a:p>
          <a:p xmlns:a="http://schemas.openxmlformats.org/drawingml/2006/main">
            <a:r>
              <a:t/>
            </a:r>
          </a:p>
          <a:p xmlns:a="http://schemas.openxmlformats.org/drawingml/2006/main">
            <a:r>
              <a:t>Nguồn trong gói bàn giao: research/splits/cpack-v3.json; research/STATE.md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60 giây</a:t>
            </a:r>
          </a:p>
          <a:p xmlns:a="http://schemas.openxmlformats.org/drawingml/2006/main">
            <a:r>
              <a:t/>
            </a:r>
          </a:p>
          <a:p xmlns:a="http://schemas.openxmlformats.org/drawingml/2006/main">
            <a:r>
              <a:t>OAV có thể hiểu rất đơn giản là bài nào, đo điều gì và quan sát được giá trị gì. Bảng này minh họa một bài luôn in 0. Ta biết nó pass ở n bằng 0, fail ở n bằng 2 và không có vòng lặp trong source. Đây đều là quan sát kiểm tra được. Còn câu sinh viên không hiểu vòng lặp là suy luận về nhận thức nên không đưa vào OAV như sự thật. Hơn nữa, lời giải bằng công thức đúng cũng không có vòng lặp. Vì vậy, thuộc tính cấu trúc chỉ có ý nghĩa khi đọc cùng đề bài và kết quả test. OAV giúp nối kết quả máy học trở lại bằng chứng mà người đọc hiểu được.</a:t>
            </a:r>
          </a:p>
          <a:p xmlns:a="http://schemas.openxmlformats.org/drawingml/2006/main">
            <a:r>
              <a:t/>
            </a:r>
          </a:p>
          <a:p xmlns:a="http://schemas.openxmlformats.org/drawingml/2006/main">
            <a:r>
              <a:t>Nguồn trong gói bàn giao: docs/topic5-contract.md; ví dụ OAV minh họa, tên cột được diễn giải</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55 giây</a:t>
            </a:r>
          </a:p>
          <a:p xmlns:a="http://schemas.openxmlformats.org/drawingml/2006/main">
            <a:r>
              <a:t/>
            </a:r>
          </a:p>
          <a:p xmlns:a="http://schemas.openxmlformats.org/drawingml/2006/main">
            <a:r>
              <a:t>Cấu hình combined_stdout trong app kết hợp ba nhóm thông tin. Test có tổng trọng số 0,48, AST 0,12 và stdout 0,40 khi các khối đều hiện diện. Khi không còn một khối hoặc có cột hằng, mã điều chỉnh theo các đặc trưng sử dụng. AST hiện là chỉ báo cú pháp, chưa phải phân tích đầy đủ quan hệ giữa biến và thao tác. Các thuộc tính phân loại được one-hot có trọng số để dùng K-means; cách scale làm bình phương khoảng cách Euclid tương ứng với Hamming có trọng số. Em không coi bộ trọng số này là tối ưu đã được chứng minh, mà là cấu hình baseline đang được đối chiếu.</a:t>
            </a:r>
          </a:p>
          <a:p xmlns:a="http://schemas.openxmlformats.org/drawingml/2006/main">
            <a:r>
              <a:t/>
            </a:r>
          </a:p>
          <a:p xmlns:a="http://schemas.openxmlformats.org/drawingml/2006/main">
            <a:r>
              <a:t>Nguồn trong gói bàn giao: misconceptions-prototype source; docs/learning_app.md; research/STATE.md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55 giây</a:t>
            </a:r>
          </a:p>
          <a:p xmlns:a="http://schemas.openxmlformats.org/drawingml/2006/main">
            <a:r>
              <a:t/>
            </a:r>
          </a:p>
          <a:p xmlns:a="http://schemas.openxmlformats.org/drawingml/2006/main">
            <a:r>
              <a:t>K-means tạo các nhóm dựa trên khoảng cách, chưa tự biết nhóm đó nên được đặt tên gì về mặt sư phạm. App dùng seed 42 và n_init bằng 10 để kiểm soát cấu hình. Medoid là một chương trình có thật được chọn làm đại diện, khác với centroid toán học. Giảng viên bắt đầu từ medoid nhưng cần xem thêm thành viên vì một cụm có thể trộn nhiều cơ chế. Dữ liệu giữ lại được gán bằng medoid train gần nhất theo Hamming có trọng số. Khi số mẫu hoặc số biểu diễn khác nhau không đủ cho k, hệ thống không ép tạo nhóm. Đây là hành vi có chủ ý để tránh một kết quả hình thức mà không có căn cứ.</a:t>
            </a:r>
          </a:p>
          <a:p xmlns:a="http://schemas.openxmlformats.org/drawingml/2006/main">
            <a:r>
              <a:t/>
            </a:r>
          </a:p>
          <a:p xmlns:a="http://schemas.openxmlformats.org/drawingml/2006/main">
            <a:r>
              <a:t>Nguồn trong gói bàn giao: docs/learning_app.md; research/STATE.md; docs/topic5-contract.md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65 giây</a:t>
            </a:r>
          </a:p>
          <a:p xmlns:a="http://schemas.openxmlformats.org/drawingml/2006/main">
            <a:r>
              <a:t/>
            </a:r>
          </a:p>
          <a:p xmlns:a="http://schemas.openxmlformats.org/drawingml/2006/main">
            <a:r>
              <a:t>Sau K-means, cây quyết định học dự đoán ID cụm để tạo luật IF–THEN. Như vậy phân cụm là không giám sát, còn cây giải thích là học có giám sát với một mục tiêu do bước trước tạo ra. Cây không được học từ nhãn quan niệm sai độc lập. Support cho biết số mẫu thỏa luật. Fidelity cho biết cây có bắt chước được kết quả gán cụm hay không. Silhouette cho biết cấu trúc khoảng cách, không xác nhận giá trị sư phạm. Một fidelity 100% trên một mẫu giữ lại có ý nghĩa rất hẹp. Khi mở demo, em sẽ đọc luật thật trên màn hình và nêu cả số mẫu. ILA là một cách quy nạp luật có giám sát; dự án hiện dùng cây quyết định, không tuyên bố đã triển khai ILA.</a:t>
            </a:r>
          </a:p>
          <a:p xmlns:a="http://schemas.openxmlformats.org/drawingml/2006/main">
            <a:r>
              <a:t/>
            </a:r>
          </a:p>
          <a:p xmlns:a="http://schemas.openxmlformats.org/drawingml/2006/main">
            <a:r>
              <a:t>Nguồn trong gói bàn giao: docs/topic5-contract.md; research/STATE.md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55 giây</a:t>
            </a:r>
          </a:p>
          <a:p xmlns:a="http://schemas.openxmlformats.org/drawingml/2006/main">
            <a:r>
              <a:t/>
            </a:r>
          </a:p>
          <a:p xmlns:a="http://schemas.openxmlformats.org/drawingml/2006/main">
            <a:r>
              <a:t>Đây là kết quả baseline C-Pack, tổng cộng 675 lượt cấu hình. Có 624 lượt ok và 51 lượt abstained. Trong đó 42 lượt không đủ điều kiện cho k bằng 3 và 9 lượt feature train giống hệt. Mỗi lượt có dấu vết cấu hình và dữ liệu để đối chiếu. Bên cạnh đó ITSP có 81 lượt development, nhưng vì thiếu ID người học nên không coi là test độc lập. Con số số không ở bên phải rất quan trọng: chưa có annotation chuyên gia độc lập hoàn tất. Vì vậy kết quả hiện tại chứng minh pipeline đã chạy có kiểm soát, chưa cung cấp accuracy về cơ chế hoặc quan niệm sai.</a:t>
            </a:r>
          </a:p>
          <a:p xmlns:a="http://schemas.openxmlformats.org/drawingml/2006/main">
            <a:r>
              <a:t/>
            </a:r>
          </a:p>
          <a:p xmlns:a="http://schemas.openxmlformats.org/drawingml/2006/main">
            <a:r>
              <a:t>Nguồn trong gói bàn giao: research/STATE.md; research/runs/cpack-summary-20260926.md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60 giây</a:t>
            </a:r>
          </a:p>
          <a:p xmlns:a="http://schemas.openxmlformats.org/drawingml/2006/main">
            <a:r>
              <a:t/>
            </a:r>
          </a:p>
          <a:p xmlns:a="http://schemas.openxmlformats.org/drawingml/2006/main">
            <a:r>
              <a:t>Trên 48 bài train và validation của ba cohort ITSP, dự án xét 387 cặp trong cùng bài tập. Với test và AST có 67 cặp trùng OAV; thêm stdout còn 42 cặp. Nghĩa là 25 cặp được biểu diễn phân biệt thêm, tương đương giảm khoảng 37,3% số collision ban đầu. Đây là một kết quả hữu ích vì verdict fail có thể che giấu khác biệt output. Tuy nhiên, biểu diễn khác nhau không đồng nghĩa cơ chế lỗi khác nhau. Cũng chưa biết các cặp bị tách có nên ở cùng nhóm về sư phạm không. Cần gold độc lập để kiểm tra điều đó. Do vậy tiêu đề slide chỉ nói giảm trùng biểu diễn, không nói tăng độ chính xác chẩn đoán.</a:t>
            </a:r>
          </a:p>
          <a:p xmlns:a="http://schemas.openxmlformats.org/drawingml/2006/main">
            <a:r>
              <a:t/>
            </a:r>
          </a:p>
          <a:p xmlns:a="http://schemas.openxmlformats.org/drawingml/2006/main">
            <a:r>
              <a:t>Nguồn trong gói bàn giao: research/runs/itsp-stdout-final-20260926/collision_audit.json; research/STATE.md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55 giây</a:t>
            </a:r>
          </a:p>
          <a:p xmlns:a="http://schemas.openxmlformats.org/drawingml/2006/main">
            <a:r>
              <a:t/>
            </a:r>
          </a:p>
          <a:p xmlns:a="http://schemas.openxmlformats.org/drawingml/2006/main">
            <a:r>
              <a:t>Một thắc mắc tự nhiên là JSON đã chia nhóm rồi, vì sao còn phải điền nhận xét? Vì hai phần có vai trò khác nhau. Cụm cho biết thuật toán đang gom những bài nào; nhận xét giải thích người dạy hiểu nhóm đó ra sao và sẽ làm gì tiếp theo. Với nhóm in hằng, ta ghi căn cứ ở source và test, rồi yêu cầu người học liệt kê các số phải cộng khi n bằng 2 hoặc 5. Nếu cụm trộn n, n bình phương và công thức thiếu một số hạng, cần ghi ngoại lệ hoặc nhận xét rộng hơn. Nhận xét không được quay lại làm feature, và review trong app chưa tự trở thành gold chuyên gia cho nghiên cứu.</a:t>
            </a:r>
          </a:p>
          <a:p xmlns:a="http://schemas.openxmlformats.org/drawingml/2006/main">
            <a:r>
              <a:t/>
            </a:r>
          </a:p>
          <a:p xmlns:a="http://schemas.openxmlformats.org/drawingml/2006/main">
            <a:r>
              <a:t>Nguồn trong gói bàn giao: docs/demo_nghiem_thu.md; docs/topic5-contract.md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65 giây</a:t>
            </a:r>
          </a:p>
          <a:p xmlns:a="http://schemas.openxmlformats.org/drawingml/2006/main">
            <a:r>
              <a:t/>
            </a:r>
          </a:p>
          <a:p xmlns:a="http://schemas.openxmlformats.org/drawingml/2006/main">
            <a:r>
              <a:t>Đây là ảnh của lần tích hợp Groq đã kiểm chứng, với model openai/gpt-oss-20b. API trả HTTP 200 và gợi ý vẫn hiển thị là bản nháp chưa duyệt. Backend gửi mô tả bài và bằng chứng có giới hạn của tối đa bốn mẫu; model không tạo lại cụm. Người dùng xem căn cứ, bấm điền vào bản nháp, chỉnh sửa rồi mới lưu. Nếu API không được cấu hình thì có gợi ý theo luật cục bộ, ghi rõ local_rules, không gọi đó là AI. Khóa nằm ở backend. Thành công của API chỉ chứng minh tích hợp hoạt động; giảng viên vẫn phải kiểm tra tính đúng của từng nhận định. Phần gợi ý và review được lưu riêng để không nhầm nguồn tự động với đánh giá của con người.</a:t>
            </a:r>
          </a:p>
          <a:p xmlns:a="http://schemas.openxmlformats.org/drawingml/2006/main">
            <a:r>
              <a:t/>
            </a:r>
          </a:p>
          <a:p xmlns:a="http://schemas.openxmlformats.org/drawingml/2006/main">
            <a:r>
              <a:t>Nguồn trong gói bàn giao: artifacts/groq-acceptance-20260927/groq-suggestion.png; browser-check.json; docs/demo_nghiem_thu.md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50 giây</a:t>
            </a:r>
          </a:p>
          <a:p xmlns:a="http://schemas.openxmlformats.org/drawingml/2006/main">
            <a:r>
              <a:t/>
            </a:r>
          </a:p>
          <a:p xmlns:a="http://schemas.openxmlformats.org/drawingml/2006/main">
            <a:r>
              <a:t>Bảng này tách theo hồ sơ để tránh cộng dồn các số kiểm thử. Phiên bản bổ sung Groq ghi 193 kiểm thử và 3 subtests đạt cùng Ruff. Bộ 27 smoke và 14 Docker thuộc đợt nghiệm thu trước đó. Browser đã thử bài sai, bản sửa đúng, lưu lịch sử và mở lại nhận xét. Có cả kiểm tra API thật với HTTP 200. Những kết quả này cho thấy các chức năng được thử hoạt động theo kỳ vọng trong môi trường local. Chúng không đo việc giảng viên có chẩn đoán chính xác hay sinh viên có học tốt hơn. Em sẽ dùng demo để cho thấy luồng đó trực tiếp.</a:t>
            </a:r>
          </a:p>
          <a:p xmlns:a="http://schemas.openxmlformats.org/drawingml/2006/main">
            <a:r>
              <a:t/>
            </a:r>
          </a:p>
          <a:p xmlns:a="http://schemas.openxmlformats.org/drawingml/2006/main">
            <a:r>
              <a:t>Nguồn trong gói bàn giao: artifacts/course-acceptance-20260927/; artifacts/groq-acceptance-20260927/browser-check.json</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300 giây</a:t>
            </a:r>
          </a:p>
          <a:p xmlns:a="http://schemas.openxmlformats.org/drawingml/2006/main">
            <a:r>
              <a:t/>
            </a:r>
          </a:p>
          <a:p xmlns:a="http://schemas.openxmlformats.org/drawingml/2006/main">
            <a:r>
              <a:t>Chuyển sang trình duyệt đã mở sẵn demo. Đăng nhập học viên và chạy chương trình luôn in 0. Chỉ vào test n bằng 2 có expected 3, actual 0; sau đó thay bằng bản tính tổng và cho thấy 6/6 test. Mở lịch sử rồi chuyển vai trò giảng viên. Chọn bài tổng và k bằng 2. Mở source bài đại diện, OAV và luật đang hiện. Nói rõ luật dự đoán ID cụm. Bấm Gợi ý nhận xét, kiểm tra dẫn chứng rồi điền nháp, sửa và lưu. Tải lại và xuất JSON để chỉ phần cụm, suggestions và reviews. Nếu API lỗi, tiếp tục bằng nhận xét thủ công; nếu phải dùng ảnh dự phòng, nói rõ ảnh thuộc lần chạy đã kiểm chứng. Không sửa các tài khoản fixture vì sẽ thay đổi mẫu cụm. Kết quả demo này chỉ chứng minh chức năng, không phải hiệu quả học tập.</a:t>
            </a:r>
          </a:p>
          <a:p xmlns:a="http://schemas.openxmlformats.org/drawingml/2006/main">
            <a:r>
              <a:t/>
            </a:r>
          </a:p>
          <a:p xmlns:a="http://schemas.openxmlformats.org/drawingml/2006/main">
            <a:r>
              <a:t>Nguồn trong gói bàn giao: docs/demo_nghiem_thu.md; docs/nghiem_thu_local_20260927.md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60 giây</a:t>
            </a:r>
          </a:p>
          <a:p xmlns:a="http://schemas.openxmlformats.org/drawingml/2006/main">
            <a:r>
              <a:t/>
            </a:r>
          </a:p>
          <a:p xmlns:a="http://schemas.openxmlformats.org/drawingml/2006/main">
            <a:r>
              <a:t>Em kết luận theo đúng phạm vi bằng chứng. Chuỗi kỹ thuật của đề 5 đã được hiện thực và có thể trình diễn. Dữ liệu công khai được kiểm toán, baseline có hồ sơ và app chạy được luồng học viên cùng giảng viên. Tuy nhiên, chưa có gold chuyên gia hoàn tất, chưa đánh giá phương pháp trên sealed test và chưa đo hiệu quả học tập. Hướng làm tiếp là kiểm toán oracle và dữ liệu trùng gần, xây nhãn cơ chế độc lập, rồi so sánh biểu diễn quan hệ hoặc can thiệp với baseline stdout ở cùng điều kiện. Tăng kích thước LLM hoặc tự train model chưa giải quyết được những khoảng trống bằng chứng này.</a:t>
            </a:r>
          </a:p>
          <a:p xmlns:a="http://schemas.openxmlformats.org/drawingml/2006/main">
            <a:r>
              <a:t/>
            </a:r>
          </a:p>
          <a:p xmlns:a="http://schemas.openxmlformats.org/drawingml/2006/main">
            <a:r>
              <a:t>Nguồn trong gói bàn giao: research/STATE.md; research/protocol.json, proposal_not_executed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35 giây</a:t>
            </a:r>
          </a:p>
          <a:p xmlns:a="http://schemas.openxmlformats.org/drawingml/2006/main">
            <a:r>
              <a:t/>
            </a:r>
          </a:p>
          <a:p xmlns:a="http://schemas.openxmlformats.org/drawingml/2006/main">
            <a:r>
              <a:t>Điểm em muốn nhấn mạnh là hệ thống hỗ trợ giảng viên đi từ một số lượng lớn bài sai đến những nhóm và bằng chứng có thể đọc được. Tên nhóm chỉ hữu ích khi người đọc có thể quay lại source và test để kiểm tra. AI làm nhanh bước soạn nhận xét nhưng không thay thế việc xác nhận. Với phạm vi môn học, sản phẩm đã kết nối OAV, phân cụm, luật và phản hồi trong một quy trình tương tác. Em xin kết thúc phần trình bày và trao đổi các câu hỏi về cách chia dữ liệu, ý nghĩa luật hoặc kết quả demo.</a:t>
            </a:r>
          </a:p>
          <a:p xmlns:a="http://schemas.openxmlformats.org/drawingml/2006/main">
            <a:r>
              <a:t/>
            </a:r>
          </a:p>
          <a:p xmlns:a="http://schemas.openxmlformats.org/drawingml/2006/main">
            <a:r>
              <a:t>Nguồn trong gói bàn giao: docs/topic5-contract.md; research/STATE.md</a:t>
            </a:r>
          </a:p>
          <a:p xmlns:a="http://schemas.openxmlformats.org/drawingml/2006/main">
            <a:r>
              <a:t>Số liệu ghi nhận đến 28/09/2026. Ví dụ minh họa không phải nhãn chuyên 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55293241994b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46dbdae0fb4699" /><Relationship Type="http://schemas.openxmlformats.org/officeDocument/2006/relationships/slideLayout" Target="/ppt/slideLayouts/slideLayout1.xml" Id="Rbee3b52a538d4e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e3b52a538d4e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55d9919b954861" /><Relationship Type="http://schemas.openxmlformats.org/officeDocument/2006/relationships/notesSlide" Target="/ppt/notesSlides/notesSlide1.xml" Id="Rf31ec0a121b6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81afdbf468476b" /><Relationship Type="http://schemas.openxmlformats.org/officeDocument/2006/relationships/notesSlide" Target="/ppt/notesSlides/notesSlide2.xml" Id="Red512387d8734a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9dea84e6864e15" /><Relationship Type="http://schemas.openxmlformats.org/officeDocument/2006/relationships/notesSlide" Target="/ppt/notesSlides/notesSlide3.xml" Id="R041bfab886a8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c31d5813124f65" /><Relationship Type="http://schemas.openxmlformats.org/officeDocument/2006/relationships/notesSlide" Target="/ppt/notesSlides/notesSlide4.xml" Id="Rf1f5f217ec984c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bec35cc2ea4b68" /><Relationship Type="http://schemas.openxmlformats.org/officeDocument/2006/relationships/chart" Target="/ppt/slides/charts/chart1.xml" Id="R9b2d29cac9d444c9" /><Relationship Type="http://schemas.openxmlformats.org/officeDocument/2006/relationships/notesSlide" Target="/ppt/notesSlides/notesSlide5.xml" Id="R6152907e1dc142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33648c19364b3c" /><Relationship Type="http://schemas.openxmlformats.org/officeDocument/2006/relationships/notesSlide" Target="/ppt/notesSlides/notesSlide6.xml" Id="R23db390424e34d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7c81d6c67643ea" /><Relationship Type="http://schemas.openxmlformats.org/officeDocument/2006/relationships/notesSlide" Target="/ppt/notesSlides/notesSlide7.xml" Id="Ra2481d90ce7448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06f8f36c844aff" /><Relationship Type="http://schemas.openxmlformats.org/officeDocument/2006/relationships/notesSlide" Target="/ppt/notesSlides/notesSlide8.xml" Id="R00b50c230ad446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d37fea2c264160" /><Relationship Type="http://schemas.openxmlformats.org/officeDocument/2006/relationships/notesSlide" Target="/ppt/notesSlides/notesSlide9.xml" Id="R5397c42f25e043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6f0d03858544b9" /><Relationship Type="http://schemas.openxmlformats.org/officeDocument/2006/relationships/notesSlide" Target="/ppt/notesSlides/notesSlide10.xml" Id="Rbfec7c15ae7d4b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72352eb80d4d6c" /><Relationship Type="http://schemas.openxmlformats.org/officeDocument/2006/relationships/notesSlide" Target="/ppt/notesSlides/notesSlide11.xml" Id="R13f09dc9e53542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a342b0ae144619" /><Relationship Type="http://schemas.openxmlformats.org/officeDocument/2006/relationships/chart" Target="/ppt/slides/charts/chart2.xml" Id="Re77ca16e79194120" /><Relationship Type="http://schemas.openxmlformats.org/officeDocument/2006/relationships/notesSlide" Target="/ppt/notesSlides/notesSlide12.xml" Id="R063cd24b3d2e44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ed2e84460f14c77" /><Relationship Type="http://schemas.openxmlformats.org/officeDocument/2006/relationships/notesSlide" Target="/ppt/notesSlides/notesSlide13.xml" Id="R5df03bf760a347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57340f1d2f4e39" /><Relationship Type="http://schemas.openxmlformats.org/officeDocument/2006/relationships/image" Target="/ppt/media/image.png" Id="R73ebcc94506a4f3e" /><Relationship Type="http://schemas.openxmlformats.org/officeDocument/2006/relationships/notesSlide" Target="/ppt/notesSlides/notesSlide14.xml" Id="R2f342ef914f144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810cc19b0b84ab8" /><Relationship Type="http://schemas.openxmlformats.org/officeDocument/2006/relationships/notesSlide" Target="/ppt/notesSlides/notesSlide15.xml" Id="R153c7ca194bc46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13806ca5f44ce7" /><Relationship Type="http://schemas.openxmlformats.org/officeDocument/2006/relationships/notesSlide" Target="/ppt/notesSlides/notesSlide16.xml" Id="Rb344f23c670b4f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bd9399934441dd" /><Relationship Type="http://schemas.openxmlformats.org/officeDocument/2006/relationships/notesSlide" Target="/ppt/notesSlides/notesSlide17.xml" Id="Rc5004269200140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23825d7e554d98" /><Relationship Type="http://schemas.openxmlformats.org/officeDocument/2006/relationships/notesSlide" Target="/ppt/notesSlides/notesSlide18.xml" Id="R34be2ae5438744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Số bài nộp</c:v>
          </c:tx>
          <c:spPr>
            <a:solidFill xmlns:a="http://schemas.openxmlformats.org/drawingml/2006/main">
              <a:srgbClr val="21735E"/>
            </a:solidFill>
          </c:spPr>
          <c:cat>
            <c:strRef>
              <c:f>'Chart Data'!$A$2:$A$6</c:f>
              <c:strCache>
                <c:ptCount val="5"/>
                <c:pt idx="0">
                  <c:v>Đủ điều kiện</c:v>
                </c:pt>
                <c:pt idx="1">
                  <c:v>Không có failure</c:v>
                </c:pt>
                <c:pt idx="2">
                  <c:v>Thiếu bằng chứng</c:v>
                </c:pt>
                <c:pt idx="3">
                  <c:v>Lỗi chạy / hạn mức</c:v>
                </c:pt>
                <c:pt idx="4">
                  <c:v>Parse error</c:v>
                </c:pt>
              </c:strCache>
            </c:strRef>
          </c:cat>
          <c:val>
            <c:numRef>
              <c:f>'Chart Data'!$B$2:$B$6</c:f>
              <c:numCache>
                <c:formatCode>0</c:formatCode>
                <c:ptCount val="5"/>
                <c:pt idx="0">
                  <c:v>2392</c:v>
                </c:pt>
                <c:pt idx="1">
                  <c:v>3600</c:v>
                </c:pt>
                <c:pt idx="2">
                  <c:v>2136</c:v>
                </c:pt>
                <c:pt idx="3">
                  <c:v>267</c:v>
                </c:pt>
                <c:pt idx="4">
                  <c:v>212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A35"/>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A35"/>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A35"/>
                </a:solidFill>
                <a:latin typeface="Arial"/>
                <a:ea typeface="Arial"/>
                <a:cs typeface="Arial"/>
              </a:defRPr>
            </a:pPr>
          </a:p>
        </c:txPr>
        <c:crossAx val="48650112"/>
        <c:crossBetween val="between"/>
      </c:valAx>
      <c:spPr>
        <a:solidFill xmlns:a="http://schemas.openxmlformats.org/drawingml/2006/main">
          <a:srgbClr val="F7F6F1"/>
        </a:solidFill>
      </c:spPr>
    </c:plotArea>
    <c:plotVisOnly val="1"/>
  </c:chart>
  <c:spPr>
    <a:solidFill xmlns:a="http://schemas.openxmlformats.org/drawingml/2006/main">
      <a:srgbClr val="F7F6F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Cặp trùng OAV</c:v>
          </c:tx>
          <c:spPr>
            <a:solidFill xmlns:a="http://schemas.openxmlformats.org/drawingml/2006/main">
              <a:srgbClr val="21735E"/>
            </a:solidFill>
          </c:spPr>
          <c:cat>
            <c:strRef>
              <c:f>'Chart Data'!$A$2:$A$3</c:f>
              <c:strCache>
                <c:ptCount val="2"/>
                <c:pt idx="0">
                  <c:v>Test + AST</c:v>
                </c:pt>
                <c:pt idx="1">
                  <c:v>Test + AST + stdout</c:v>
                </c:pt>
              </c:strCache>
            </c:strRef>
          </c:cat>
          <c:val>
            <c:numRef>
              <c:f>'Chart Data'!$B$2:$B$3</c:f>
              <c:numCache>
                <c:formatCode>0</c:formatCode>
                <c:ptCount val="2"/>
                <c:pt idx="0">
                  <c:v>67</c:v>
                </c:pt>
                <c:pt idx="1">
                  <c:v>42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A35"/>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A35"/>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A35"/>
                </a:solidFill>
                <a:latin typeface="Arial"/>
                <a:ea typeface="Arial"/>
                <a:cs typeface="Arial"/>
              </a:defRPr>
            </a:pPr>
          </a:p>
        </c:txPr>
        <c:crossAx val="48650112"/>
        <c:crossBetween val="between"/>
      </c:valAx>
      <c:spPr>
        <a:solidFill xmlns:a="http://schemas.openxmlformats.org/drawingml/2006/main">
          <a:srgbClr val="F7F6F1"/>
        </a:solidFill>
      </c:spPr>
    </c:plotArea>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A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E29F40-19C4-44F9-8F0E-8C78397951DE}"/>
              </a:ext>
            </a:extLst>
          </p:cNvPr>
          <p:cNvSpPr>
            <a:spLocks xmlns:a="http://schemas.openxmlformats.org/drawingml/2006/main" noGrp="1"/>
          </p:cNvSpPr>
          <p:nvPr/>
        </p:nvSpPr>
        <p:spPr>
          <a:xfrm xmlns:a="http://schemas.openxmlformats.org/drawingml/2006/main">
            <a:off x="762000" y="857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D6C7"/>
                </a:solidFill>
                <a:latin typeface="Arial"/>
                <a:ea typeface="Arial"/>
                <a:cs typeface="Arial"/>
              </a:defRPr>
            </a:pPr>
            <a:r>
              <a:rPr sz="1500" b="1">
                <a:solidFill>
                  <a:srgbClr val="B9D6C7"/>
                </a:solidFill>
                <a:latin typeface="Arial"/>
                <a:ea typeface="Arial"/>
                <a:cs typeface="Arial"/>
              </a:rPr>
              <a:t>AAI · ĐỀ 5</a:t>
            </a:r>
          </a:p>
        </p:txBody>
      </p:sp>
      <p:sp>
        <p:nvSpPr>
          <p:cNvPr id="2" name="">
            <a:extLst xmlns:a="http://schemas.openxmlformats.org/drawingml/2006/main">
              <a:ext uri="{FF2B5EF4-FFF2-40B4-BE49-F238E27FC236}">
                <a16:creationId xmlns:a16="http://schemas.microsoft.com/office/drawing/2014/main" id="{D2432761-774F-4F0E-BE55-8522BEEEC455}"/>
              </a:ext>
            </a:extLst>
          </p:cNvPr>
          <p:cNvSpPr>
            <a:spLocks xmlns:a="http://schemas.openxmlformats.org/drawingml/2006/main" noGrp="1"/>
          </p:cNvSpPr>
          <p:nvPr/>
        </p:nvSpPr>
        <p:spPr>
          <a:xfrm xmlns:a="http://schemas.openxmlformats.org/drawingml/2006/main">
            <a:off x="762000" y="20002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Phân cụm biểu hiện lỗi</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trong bài lập trình</a:t>
            </a:r>
          </a:p>
        </p:txBody>
      </p:sp>
      <p:sp>
        <p:nvSpPr>
          <p:cNvPr id="3" name="">
            <a:extLst xmlns:a="http://schemas.openxmlformats.org/drawingml/2006/main">
              <a:ext uri="{FF2B5EF4-FFF2-40B4-BE49-F238E27FC236}">
                <a16:creationId xmlns:a16="http://schemas.microsoft.com/office/drawing/2014/main" id="{4866DA4E-E84B-4728-A7DF-BF84D45B0D91}"/>
              </a:ext>
            </a:extLst>
          </p:cNvPr>
          <p:cNvSpPr>
            <a:spLocks xmlns:a="http://schemas.openxmlformats.org/drawingml/2006/main" noGrp="1"/>
          </p:cNvSpPr>
          <p:nvPr/>
        </p:nvSpPr>
        <p:spPr>
          <a:xfrm xmlns:a="http://schemas.openxmlformats.org/drawingml/2006/main">
            <a:off x="762000" y="4410075"/>
            <a:ext cx="942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FEAE1"/>
                </a:solidFill>
                <a:latin typeface="Arial"/>
                <a:ea typeface="Arial"/>
                <a:cs typeface="Arial"/>
              </a:defRPr>
            </a:pPr>
            <a:r>
              <a:rPr sz="2250" b="0">
                <a:solidFill>
                  <a:srgbClr val="DFEAE1"/>
                </a:solidFill>
                <a:latin typeface="Arial"/>
                <a:ea typeface="Arial"/>
                <a:cs typeface="Arial"/>
              </a:rPr>
              <a:t>Từ bài nộp sai đến phản hồi giảng dạy có bằng chứng</a:t>
            </a:r>
          </a:p>
        </p:txBody>
      </p:sp>
      <p:sp>
        <p:nvSpPr>
          <p:cNvPr id="4" name="">
            <a:extLst xmlns:a="http://schemas.openxmlformats.org/drawingml/2006/main">
              <a:ext uri="{FF2B5EF4-FFF2-40B4-BE49-F238E27FC236}">
                <a16:creationId xmlns:a16="http://schemas.microsoft.com/office/drawing/2014/main" id="{C2F95D6D-BC9E-4C7D-8E61-62307AC9B32B}"/>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CD0C7"/>
                </a:solidFill>
                <a:latin typeface="Arial"/>
                <a:ea typeface="Arial"/>
                <a:cs typeface="Arial"/>
              </a:defRPr>
            </a:pPr>
            <a:r>
              <a:rPr sz="1050" b="0">
                <a:solidFill>
                  <a:srgbClr val="BCD0C7"/>
                </a:solidFill>
                <a:latin typeface="Arial"/>
                <a:ea typeface="Arial"/>
                <a:cs typeface="Arial"/>
              </a:rPr>
              <a:t>01 / 18</a:t>
            </a:r>
          </a:p>
        </p:txBody>
      </p:sp>
      <p:sp>
        <p:nvSpPr>
          <p:cNvPr id="5" name="">
            <a:extLst xmlns:a="http://schemas.openxmlformats.org/drawingml/2006/main">
              <a:ext uri="{FF2B5EF4-FFF2-40B4-BE49-F238E27FC236}">
                <a16:creationId xmlns:a16="http://schemas.microsoft.com/office/drawing/2014/main" id="{0C2D8937-86A3-4AF6-9FA8-79F111DE433E}"/>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CD0C7"/>
                </a:solidFill>
                <a:latin typeface="Arial"/>
                <a:ea typeface="Arial"/>
                <a:cs typeface="Arial"/>
              </a:defRPr>
            </a:pPr>
            <a:r>
              <a:rPr sz="1050" b="0">
                <a:solidFill>
                  <a:srgbClr val="BCD0C7"/>
                </a:solidFill>
                <a:latin typeface="Arial"/>
                <a:ea typeface="Arial"/>
                <a:cs typeface="Arial"/>
              </a:rPr>
              <a:t>AAI  ·  Misconceptions Clustering  ·  28.09.2026</a:t>
            </a:r>
          </a:p>
        </p:txBody>
      </p:sp>
    </p:spTree>
    <p:extLst>
      <p:ext uri="{BB962C8B-B14F-4D97-AF65-F5344CB8AC3E}">
        <p14:creationId xmlns:p14="http://schemas.microsoft.com/office/powerpoint/2010/main" val="1937383666"/>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D3F140-85D8-4A99-9E1F-7465EE49DE8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BÀI TOÁN</a:t>
            </a:r>
          </a:p>
        </p:txBody>
      </p:sp>
      <p:sp>
        <p:nvSpPr>
          <p:cNvPr id="2" name="">
            <a:extLst xmlns:a="http://schemas.openxmlformats.org/drawingml/2006/main">
              <a:ext uri="{FF2B5EF4-FFF2-40B4-BE49-F238E27FC236}">
                <a16:creationId xmlns:a16="http://schemas.microsoft.com/office/drawing/2014/main" id="{0582981E-D341-41E1-BA98-E7B56FD355CF}"/>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Cùng trượt test, chưa chắc cùng lỗi</a:t>
            </a:r>
          </a:p>
        </p:txBody>
      </p:sp>
      <p:graphicFrame>
        <p:nvGraphicFramePr>
          <p:cNvPr id="9" name=""/>
          <p:cNvGraphicFramePr/>
          <p:nvPr/>
        </p:nvGraphicFramePr>
        <p:xfrm>
          <a:off xmlns:a="http://schemas.openxmlformats.org/drawingml/2006/main" x="685800" y="2286000"/>
          <a:ext xmlns:a="http://schemas.openxmlformats.org/drawingml/2006/main" cx="10820400" cy="2857500"/>
        </p:xfrm>
        <a:graphic xmlns:a="http://schemas.openxmlformats.org/drawingml/2006/main">
          <a:graphicData uri="http://schemas.openxmlformats.org/drawingml/2006/table">
            <a:tbl>
              <a:tblPr/>
              <a:tblGrid>
                <a:gridCol w="3524250"/>
                <a:gridCol w="2809875"/>
                <a:gridCol w="4486275"/>
              </a:tblGrid>
              <a:tr h="714375">
                <a:tc>
                  <a:txBody>
                    <a:bodyPr/>
                    <a:lstStyle/>
                    <a:p>
                      <a:r>
                        <a:rPr sz="1875" b="1">
                          <a:solidFill>
                            <a:srgbClr val="FFFFFF"/>
                          </a:solidFill>
                          <a:latin typeface="Arial"/>
                          <a:ea typeface="Arial"/>
                          <a:cs typeface="Arial"/>
                        </a:rPr>
                        <a:t>Chương trình in</a:t>
                      </a:r>
                    </a:p>
                  </a:txBody>
                  <a:tcPr marL="91440" marR="91440" marT="45720" marB="45720">
                    <a:solidFill>
                      <a:srgbClr val="173A35"/>
                    </a:solidFill>
                  </a:tcPr>
                </a:tc>
                <a:tc>
                  <a:txBody>
                    <a:bodyPr/>
                    <a:lstStyle/>
                    <a:p>
                      <a:r>
                        <a:rPr sz="1875" b="1">
                          <a:solidFill>
                            <a:srgbClr val="FFFFFF"/>
                          </a:solidFill>
                          <a:latin typeface="Arial"/>
                          <a:ea typeface="Arial"/>
                          <a:cs typeface="Arial"/>
                        </a:rPr>
                        <a:t>Với n = 2</a:t>
                      </a:r>
                    </a:p>
                  </a:txBody>
                  <a:tcPr marL="91440" marR="91440" marT="45720" marB="45720">
                    <a:solidFill>
                      <a:srgbClr val="173A35"/>
                    </a:solidFill>
                  </a:tcPr>
                </a:tc>
                <a:tc>
                  <a:txBody>
                    <a:bodyPr/>
                    <a:lstStyle/>
                    <a:p>
                      <a:r>
                        <a:rPr sz="1875" b="1">
                          <a:solidFill>
                            <a:srgbClr val="FFFFFF"/>
                          </a:solidFill>
                          <a:latin typeface="Arial"/>
                          <a:ea typeface="Arial"/>
                          <a:cs typeface="Arial"/>
                        </a:rPr>
                        <a:t>Điều cần xem thêm</a:t>
                      </a:r>
                    </a:p>
                  </a:txBody>
                  <a:tcPr marL="91440" marR="91440" marT="45720" marB="45720">
                    <a:solidFill>
                      <a:srgbClr val="173A35"/>
                    </a:solidFill>
                  </a:tcPr>
                </a:tc>
              </a:tr>
              <a:tr h="714375">
                <a:tc>
                  <a:txBody>
                    <a:bodyPr/>
                    <a:lstStyle/>
                    <a:p>
                      <a:r>
                        <a:rPr sz="1875" b="0">
                          <a:solidFill>
                            <a:srgbClr val="173A35"/>
                          </a:solidFill>
                          <a:latin typeface="Arial"/>
                          <a:ea typeface="Arial"/>
                          <a:cs typeface="Arial"/>
                        </a:rPr>
                        <a:t>0</a:t>
                      </a:r>
                    </a:p>
                  </a:txBody>
                  <a:tcPr marL="91440" marR="91440" marT="45720" marB="45720">
                    <a:solidFill>
                      <a:srgbClr val="FFFFFF"/>
                    </a:solidFill>
                  </a:tcPr>
                </a:tc>
                <a:tc>
                  <a:txBody>
                    <a:bodyPr/>
                    <a:lstStyle/>
                    <a:p>
                      <a:r>
                        <a:rPr sz="1875" b="0">
                          <a:solidFill>
                            <a:srgbClr val="173A35"/>
                          </a:solidFill>
                          <a:latin typeface="Arial"/>
                          <a:ea typeface="Arial"/>
                          <a:cs typeface="Arial"/>
                        </a:rPr>
                        <a:t>Sai · cần ra 3</a:t>
                      </a:r>
                    </a:p>
                  </a:txBody>
                  <a:tcPr marL="91440" marR="91440" marT="45720" marB="45720">
                    <a:solidFill>
                      <a:srgbClr val="FFFFFF"/>
                    </a:solidFill>
                  </a:tcPr>
                </a:tc>
                <a:tc>
                  <a:txBody>
                    <a:bodyPr/>
                    <a:lstStyle/>
                    <a:p>
                      <a:r>
                        <a:rPr sz="1875" b="0">
                          <a:solidFill>
                            <a:srgbClr val="173A35"/>
                          </a:solidFill>
                          <a:latin typeface="Arial"/>
                          <a:ea typeface="Arial"/>
                          <a:cs typeface="Arial"/>
                        </a:rPr>
                        <a:t>Có tính toán hay chỉ in hằng?</a:t>
                      </a:r>
                    </a:p>
                  </a:txBody>
                  <a:tcPr marL="91440" marR="91440" marT="45720" marB="45720">
                    <a:solidFill>
                      <a:srgbClr val="FFFFFF"/>
                    </a:solidFill>
                  </a:tcPr>
                </a:tc>
              </a:tr>
              <a:tr h="714375">
                <a:tc>
                  <a:txBody>
                    <a:bodyPr/>
                    <a:lstStyle/>
                    <a:p>
                      <a:r>
                        <a:rPr sz="1875" b="0">
                          <a:solidFill>
                            <a:srgbClr val="173A35"/>
                          </a:solidFill>
                          <a:latin typeface="Arial"/>
                          <a:ea typeface="Arial"/>
                          <a:cs typeface="Arial"/>
                        </a:rPr>
                        <a:t>n</a:t>
                      </a:r>
                    </a:p>
                  </a:txBody>
                  <a:tcPr marL="91440" marR="91440" marT="45720" marB="45720">
                    <a:solidFill>
                      <a:srgbClr val="E4ECE6"/>
                    </a:solidFill>
                  </a:tcPr>
                </a:tc>
                <a:tc>
                  <a:txBody>
                    <a:bodyPr/>
                    <a:lstStyle/>
                    <a:p>
                      <a:r>
                        <a:rPr sz="1875" b="0">
                          <a:solidFill>
                            <a:srgbClr val="173A35"/>
                          </a:solidFill>
                          <a:latin typeface="Arial"/>
                          <a:ea typeface="Arial"/>
                          <a:cs typeface="Arial"/>
                        </a:rPr>
                        <a:t>Sai · ra 2</a:t>
                      </a:r>
                    </a:p>
                  </a:txBody>
                  <a:tcPr marL="91440" marR="91440" marT="45720" marB="45720">
                    <a:solidFill>
                      <a:srgbClr val="E4ECE6"/>
                    </a:solidFill>
                  </a:tcPr>
                </a:tc>
                <a:tc>
                  <a:txBody>
                    <a:bodyPr/>
                    <a:lstStyle/>
                    <a:p>
                      <a:r>
                        <a:rPr sz="1875" b="0">
                          <a:solidFill>
                            <a:srgbClr val="173A35"/>
                          </a:solidFill>
                          <a:latin typeface="Arial"/>
                          <a:ea typeface="Arial"/>
                          <a:cs typeface="Arial"/>
                        </a:rPr>
                        <a:t>Đã hiểu phép cộng dồn chưa?</a:t>
                      </a:r>
                    </a:p>
                  </a:txBody>
                  <a:tcPr marL="91440" marR="91440" marT="45720" marB="45720">
                    <a:solidFill>
                      <a:srgbClr val="E4ECE6"/>
                    </a:solidFill>
                  </a:tcPr>
                </a:tc>
              </a:tr>
              <a:tr h="714375">
                <a:tc>
                  <a:txBody>
                    <a:bodyPr/>
                    <a:lstStyle/>
                    <a:p>
                      <a:r>
                        <a:rPr sz="1875" b="0">
                          <a:solidFill>
                            <a:srgbClr val="173A35"/>
                          </a:solidFill>
                          <a:latin typeface="Arial"/>
                          <a:ea typeface="Arial"/>
                          <a:cs typeface="Arial"/>
                        </a:rPr>
                        <a:t>n(n−1)/2</a:t>
                      </a:r>
                    </a:p>
                  </a:txBody>
                  <a:tcPr marL="91440" marR="91440" marT="45720" marB="45720">
                    <a:solidFill>
                      <a:srgbClr val="FFFFFF"/>
                    </a:solidFill>
                  </a:tcPr>
                </a:tc>
                <a:tc>
                  <a:txBody>
                    <a:bodyPr/>
                    <a:lstStyle/>
                    <a:p>
                      <a:r>
                        <a:rPr sz="1875" b="0">
                          <a:solidFill>
                            <a:srgbClr val="173A35"/>
                          </a:solidFill>
                          <a:latin typeface="Arial"/>
                          <a:ea typeface="Arial"/>
                          <a:cs typeface="Arial"/>
                        </a:rPr>
                        <a:t>Sai · ra 1</a:t>
                      </a:r>
                    </a:p>
                  </a:txBody>
                  <a:tcPr marL="91440" marR="91440" marT="45720" marB="45720">
                    <a:solidFill>
                      <a:srgbClr val="FFFFFF"/>
                    </a:solidFill>
                  </a:tcPr>
                </a:tc>
                <a:tc>
                  <a:txBody>
                    <a:bodyPr/>
                    <a:lstStyle/>
                    <a:p>
                      <a:r>
                        <a:rPr sz="1875" b="0">
                          <a:solidFill>
                            <a:srgbClr val="173A35"/>
                          </a:solidFill>
                          <a:latin typeface="Arial"/>
                          <a:ea typeface="Arial"/>
                          <a:cs typeface="Arial"/>
                        </a:rPr>
                        <a:t>Công thức có đúng miền tổng?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6FC9DF1-2E6B-44EB-A7D3-3A261A3BAEA9}"/>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02 / 18</a:t>
            </a:r>
          </a:p>
        </p:txBody>
      </p:sp>
      <p:sp>
        <p:nvSpPr>
          <p:cNvPr id="5" name="">
            <a:extLst xmlns:a="http://schemas.openxmlformats.org/drawingml/2006/main">
              <a:ext uri="{FF2B5EF4-FFF2-40B4-BE49-F238E27FC236}">
                <a16:creationId xmlns:a16="http://schemas.microsoft.com/office/drawing/2014/main" id="{2917CED4-318D-406F-A5CD-6E0F0E4589AF}"/>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27A82697-AF2F-4C68-A47A-94F94D4C9E45}"/>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Điểm số cho biết sai ở đâu; source và output giúp tìm hiểu vì sao.</a:t>
            </a:r>
          </a:p>
        </p:txBody>
      </p:sp>
    </p:spTree>
    <p:extLst>
      <p:ext uri="{BB962C8B-B14F-4D97-AF65-F5344CB8AC3E}">
        <p14:creationId xmlns:p14="http://schemas.microsoft.com/office/powerpoint/2010/main" val="272141297"/>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3945C29-A8F0-4FDC-8C8A-3AD168AA47A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MỤC TIÊU</a:t>
            </a:r>
          </a:p>
        </p:txBody>
      </p:sp>
      <p:sp>
        <p:nvSpPr>
          <p:cNvPr id="2" name="">
            <a:extLst xmlns:a="http://schemas.openxmlformats.org/drawingml/2006/main">
              <a:ext uri="{FF2B5EF4-FFF2-40B4-BE49-F238E27FC236}">
                <a16:creationId xmlns:a16="http://schemas.microsoft.com/office/drawing/2014/main" id="{E1EBD8FC-87F4-4320-925B-9F25B5EBBF42}"/>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Hệ thống cần tạo ra điều gì?</a:t>
            </a:r>
          </a:p>
        </p:txBody>
      </p:sp>
      <p:sp>
        <p:nvSpPr>
          <p:cNvPr id="3" name="">
            <a:extLst xmlns:a="http://schemas.openxmlformats.org/drawingml/2006/main">
              <a:ext uri="{FF2B5EF4-FFF2-40B4-BE49-F238E27FC236}">
                <a16:creationId xmlns:a16="http://schemas.microsoft.com/office/drawing/2014/main" id="{EC15D565-EC50-40A1-8AD9-B430CEBDAD5E}"/>
              </a:ext>
            </a:extLst>
          </p:cNvPr>
          <p:cNvSpPr>
            <a:spLocks xmlns:a="http://schemas.openxmlformats.org/drawingml/2006/main" noGrp="1"/>
          </p:cNvSpPr>
          <p:nvPr/>
        </p:nvSpPr>
        <p:spPr>
          <a:xfrm xmlns:a="http://schemas.openxmlformats.org/drawingml/2006/main">
            <a:off x="685800" y="22574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110906A-D25C-49A0-BCFE-A26A6DAC6E75}"/>
              </a:ext>
            </a:extLst>
          </p:cNvPr>
          <p:cNvSpPr>
            <a:spLocks xmlns:a="http://schemas.openxmlformats.org/drawingml/2006/main" noGrp="1"/>
          </p:cNvSpPr>
          <p:nvPr/>
        </p:nvSpPr>
        <p:spPr>
          <a:xfrm xmlns:a="http://schemas.openxmlformats.org/drawingml/2006/main">
            <a:off x="1524000" y="22574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Bằng chứng</a:t>
            </a:r>
          </a:p>
        </p:txBody>
      </p:sp>
      <p:sp>
        <p:nvSpPr>
          <p:cNvPr id="5" name="">
            <a:extLst xmlns:a="http://schemas.openxmlformats.org/drawingml/2006/main">
              <a:ext uri="{FF2B5EF4-FFF2-40B4-BE49-F238E27FC236}">
                <a16:creationId xmlns:a16="http://schemas.microsoft.com/office/drawing/2014/main" id="{135A4A22-64DE-46D2-B7DB-C987CCB9B48F}"/>
              </a:ext>
            </a:extLst>
          </p:cNvPr>
          <p:cNvSpPr>
            <a:spLocks xmlns:a="http://schemas.openxmlformats.org/drawingml/2006/main" noGrp="1"/>
          </p:cNvSpPr>
          <p:nvPr/>
        </p:nvSpPr>
        <p:spPr>
          <a:xfrm xmlns:a="http://schemas.openxmlformats.org/drawingml/2006/main">
            <a:off x="3714750" y="22574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Source và kết quả từng test</a:t>
            </a:r>
          </a:p>
        </p:txBody>
      </p:sp>
      <p:sp>
        <p:nvSpPr>
          <p:cNvPr id="6" name="">
            <a:extLst xmlns:a="http://schemas.openxmlformats.org/drawingml/2006/main">
              <a:ext uri="{FF2B5EF4-FFF2-40B4-BE49-F238E27FC236}">
                <a16:creationId xmlns:a16="http://schemas.microsoft.com/office/drawing/2014/main" id="{E4192CDF-513D-4BC0-9915-239874CB139D}"/>
              </a:ext>
            </a:extLst>
          </p:cNvPr>
          <p:cNvSpPr>
            <a:spLocks xmlns:a="http://schemas.openxmlformats.org/drawingml/2006/main" noGrp="1"/>
          </p:cNvSpPr>
          <p:nvPr/>
        </p:nvSpPr>
        <p:spPr>
          <a:xfrm xmlns:a="http://schemas.openxmlformats.org/drawingml/2006/main">
            <a:off x="685800" y="2905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1BCDC3C-D0F9-460B-BC3C-F184C0EEABE2}"/>
              </a:ext>
            </a:extLst>
          </p:cNvPr>
          <p:cNvSpPr>
            <a:spLocks xmlns:a="http://schemas.openxmlformats.org/drawingml/2006/main" noGrp="1"/>
          </p:cNvSpPr>
          <p:nvPr/>
        </p:nvSpPr>
        <p:spPr>
          <a:xfrm xmlns:a="http://schemas.openxmlformats.org/drawingml/2006/main">
            <a:off x="1524000" y="29051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OAV</a:t>
            </a:r>
          </a:p>
        </p:txBody>
      </p:sp>
      <p:sp>
        <p:nvSpPr>
          <p:cNvPr id="8" name="">
            <a:extLst xmlns:a="http://schemas.openxmlformats.org/drawingml/2006/main">
              <a:ext uri="{FF2B5EF4-FFF2-40B4-BE49-F238E27FC236}">
                <a16:creationId xmlns:a16="http://schemas.microsoft.com/office/drawing/2014/main" id="{71FB90E9-391E-4431-82DD-FD19FB263AAF}"/>
              </a:ext>
            </a:extLst>
          </p:cNvPr>
          <p:cNvSpPr>
            <a:spLocks xmlns:a="http://schemas.openxmlformats.org/drawingml/2006/main" noGrp="1"/>
          </p:cNvSpPr>
          <p:nvPr/>
        </p:nvSpPr>
        <p:spPr>
          <a:xfrm xmlns:a="http://schemas.openxmlformats.org/drawingml/2006/main">
            <a:off x="3714750" y="29051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Biến quan sát thành thuộc tính</a:t>
            </a:r>
          </a:p>
        </p:txBody>
      </p:sp>
      <p:sp>
        <p:nvSpPr>
          <p:cNvPr id="9" name="">
            <a:extLst xmlns:a="http://schemas.openxmlformats.org/drawingml/2006/main">
              <a:ext uri="{FF2B5EF4-FFF2-40B4-BE49-F238E27FC236}">
                <a16:creationId xmlns:a16="http://schemas.microsoft.com/office/drawing/2014/main" id="{0C79AA82-95C0-46B2-ACE5-4BBD9567CE91}"/>
              </a:ext>
            </a:extLst>
          </p:cNvPr>
          <p:cNvSpPr>
            <a:spLocks xmlns:a="http://schemas.openxmlformats.org/drawingml/2006/main" noGrp="1"/>
          </p:cNvSpPr>
          <p:nvPr/>
        </p:nvSpPr>
        <p:spPr>
          <a:xfrm xmlns:a="http://schemas.openxmlformats.org/drawingml/2006/main">
            <a:off x="685800" y="35528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EF10102-50E6-47EB-9D5B-C21B541D4A3E}"/>
              </a:ext>
            </a:extLst>
          </p:cNvPr>
          <p:cNvSpPr>
            <a:spLocks xmlns:a="http://schemas.openxmlformats.org/drawingml/2006/main" noGrp="1"/>
          </p:cNvSpPr>
          <p:nvPr/>
        </p:nvSpPr>
        <p:spPr>
          <a:xfrm xmlns:a="http://schemas.openxmlformats.org/drawingml/2006/main">
            <a:off x="1524000" y="35528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Cụm</a:t>
            </a:r>
          </a:p>
        </p:txBody>
      </p:sp>
      <p:sp>
        <p:nvSpPr>
          <p:cNvPr id="11" name="">
            <a:extLst xmlns:a="http://schemas.openxmlformats.org/drawingml/2006/main">
              <a:ext uri="{FF2B5EF4-FFF2-40B4-BE49-F238E27FC236}">
                <a16:creationId xmlns:a16="http://schemas.microsoft.com/office/drawing/2014/main" id="{1943688C-BFF8-4366-AA30-C4EBF7223725}"/>
              </a:ext>
            </a:extLst>
          </p:cNvPr>
          <p:cNvSpPr>
            <a:spLocks xmlns:a="http://schemas.openxmlformats.org/drawingml/2006/main" noGrp="1"/>
          </p:cNvSpPr>
          <p:nvPr/>
        </p:nvSpPr>
        <p:spPr>
          <a:xfrm xmlns:a="http://schemas.openxmlformats.org/drawingml/2006/main">
            <a:off x="3714750" y="35528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Gom bài có biểu hiện gần nhau</a:t>
            </a:r>
          </a:p>
        </p:txBody>
      </p:sp>
      <p:sp>
        <p:nvSpPr>
          <p:cNvPr id="12" name="">
            <a:extLst xmlns:a="http://schemas.openxmlformats.org/drawingml/2006/main">
              <a:ext uri="{FF2B5EF4-FFF2-40B4-BE49-F238E27FC236}">
                <a16:creationId xmlns:a16="http://schemas.microsoft.com/office/drawing/2014/main" id="{F431095D-E495-4921-A474-41B84D20FC0E}"/>
              </a:ext>
            </a:extLst>
          </p:cNvPr>
          <p:cNvSpPr>
            <a:spLocks xmlns:a="http://schemas.openxmlformats.org/drawingml/2006/main" noGrp="1"/>
          </p:cNvSpPr>
          <p:nvPr/>
        </p:nvSpPr>
        <p:spPr>
          <a:xfrm xmlns:a="http://schemas.openxmlformats.org/drawingml/2006/main">
            <a:off x="685800" y="42005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5BD5A46-94D0-43DE-9056-01DAADA629E6}"/>
              </a:ext>
            </a:extLst>
          </p:cNvPr>
          <p:cNvSpPr>
            <a:spLocks xmlns:a="http://schemas.openxmlformats.org/drawingml/2006/main" noGrp="1"/>
          </p:cNvSpPr>
          <p:nvPr/>
        </p:nvSpPr>
        <p:spPr>
          <a:xfrm xmlns:a="http://schemas.openxmlformats.org/drawingml/2006/main">
            <a:off x="1524000" y="42005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Luật</a:t>
            </a:r>
          </a:p>
        </p:txBody>
      </p:sp>
      <p:sp>
        <p:nvSpPr>
          <p:cNvPr id="14" name="">
            <a:extLst xmlns:a="http://schemas.openxmlformats.org/drawingml/2006/main">
              <a:ext uri="{FF2B5EF4-FFF2-40B4-BE49-F238E27FC236}">
                <a16:creationId xmlns:a16="http://schemas.microsoft.com/office/drawing/2014/main" id="{977BCA36-251D-4A2B-8C26-C2A43465B9AD}"/>
              </a:ext>
            </a:extLst>
          </p:cNvPr>
          <p:cNvSpPr>
            <a:spLocks xmlns:a="http://schemas.openxmlformats.org/drawingml/2006/main" noGrp="1"/>
          </p:cNvSpPr>
          <p:nvPr/>
        </p:nvSpPr>
        <p:spPr>
          <a:xfrm xmlns:a="http://schemas.openxmlformats.org/drawingml/2006/main">
            <a:off x="3714750" y="42005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Giải thích điều kiện vào nhóm</a:t>
            </a:r>
          </a:p>
        </p:txBody>
      </p:sp>
      <p:sp>
        <p:nvSpPr>
          <p:cNvPr id="15" name="">
            <a:extLst xmlns:a="http://schemas.openxmlformats.org/drawingml/2006/main">
              <a:ext uri="{FF2B5EF4-FFF2-40B4-BE49-F238E27FC236}">
                <a16:creationId xmlns:a16="http://schemas.microsoft.com/office/drawing/2014/main" id="{89B72ED1-933E-4BB9-8FF9-A7AAE9B3F3B2}"/>
              </a:ext>
            </a:extLst>
          </p:cNvPr>
          <p:cNvSpPr>
            <a:spLocks xmlns:a="http://schemas.openxmlformats.org/drawingml/2006/main" noGrp="1"/>
          </p:cNvSpPr>
          <p:nvPr/>
        </p:nvSpPr>
        <p:spPr>
          <a:xfrm xmlns:a="http://schemas.openxmlformats.org/drawingml/2006/main">
            <a:off x="685800" y="48482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05</a:t>
            </a:r>
          </a:p>
        </p:txBody>
      </p:sp>
      <p:sp>
        <p:nvSpPr>
          <p:cNvPr id="16" name="">
            <a:extLst xmlns:a="http://schemas.openxmlformats.org/drawingml/2006/main">
              <a:ext uri="{FF2B5EF4-FFF2-40B4-BE49-F238E27FC236}">
                <a16:creationId xmlns:a16="http://schemas.microsoft.com/office/drawing/2014/main" id="{F545110C-C78C-49AC-B40B-5FB0A817F224}"/>
              </a:ext>
            </a:extLst>
          </p:cNvPr>
          <p:cNvSpPr>
            <a:spLocks xmlns:a="http://schemas.openxmlformats.org/drawingml/2006/main" noGrp="1"/>
          </p:cNvSpPr>
          <p:nvPr/>
        </p:nvSpPr>
        <p:spPr>
          <a:xfrm xmlns:a="http://schemas.openxmlformats.org/drawingml/2006/main">
            <a:off x="1524000" y="48482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Phản hồi</a:t>
            </a:r>
          </a:p>
        </p:txBody>
      </p:sp>
      <p:sp>
        <p:nvSpPr>
          <p:cNvPr id="17" name="">
            <a:extLst xmlns:a="http://schemas.openxmlformats.org/drawingml/2006/main">
              <a:ext uri="{FF2B5EF4-FFF2-40B4-BE49-F238E27FC236}">
                <a16:creationId xmlns:a16="http://schemas.microsoft.com/office/drawing/2014/main" id="{39159280-8305-410C-AA13-B46BEA6BA50B}"/>
              </a:ext>
            </a:extLst>
          </p:cNvPr>
          <p:cNvSpPr>
            <a:spLocks xmlns:a="http://schemas.openxmlformats.org/drawingml/2006/main" noGrp="1"/>
          </p:cNvSpPr>
          <p:nvPr/>
        </p:nvSpPr>
        <p:spPr>
          <a:xfrm xmlns:a="http://schemas.openxmlformats.org/drawingml/2006/main">
            <a:off x="3714750" y="48482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Đề xuất nội dung giảng lại</a:t>
            </a:r>
          </a:p>
        </p:txBody>
      </p:sp>
      <p:sp>
        <p:nvSpPr>
          <p:cNvPr id="18" name="">
            <a:extLst xmlns:a="http://schemas.openxmlformats.org/drawingml/2006/main">
              <a:ext uri="{FF2B5EF4-FFF2-40B4-BE49-F238E27FC236}">
                <a16:creationId xmlns:a16="http://schemas.microsoft.com/office/drawing/2014/main" id="{E94ACD0A-95EC-4A82-A2D0-2DF7A26DD861}"/>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03 / 18</a:t>
            </a:r>
          </a:p>
        </p:txBody>
      </p:sp>
      <p:sp>
        <p:nvSpPr>
          <p:cNvPr id="19" name="">
            <a:extLst xmlns:a="http://schemas.openxmlformats.org/drawingml/2006/main">
              <a:ext uri="{FF2B5EF4-FFF2-40B4-BE49-F238E27FC236}">
                <a16:creationId xmlns:a16="http://schemas.microsoft.com/office/drawing/2014/main" id="{BB234002-77DB-40F5-B418-6AA9FB15772C}"/>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20" name="">
            <a:extLst xmlns:a="http://schemas.openxmlformats.org/drawingml/2006/main">
              <a:ext uri="{FF2B5EF4-FFF2-40B4-BE49-F238E27FC236}">
                <a16:creationId xmlns:a16="http://schemas.microsoft.com/office/drawing/2014/main" id="{66399698-0805-4E04-AAEE-A31582C1A505}"/>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Mỗi nhận định phải quay lại được bài nộp và test cụ thể.</a:t>
            </a:r>
          </a:p>
        </p:txBody>
      </p:sp>
    </p:spTree>
    <p:extLst>
      <p:ext uri="{BB962C8B-B14F-4D97-AF65-F5344CB8AC3E}">
        <p14:creationId xmlns:p14="http://schemas.microsoft.com/office/powerpoint/2010/main" val="63681473"/>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7F1FEE-85FA-4122-B725-066F1AEF79CB}"/>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PHẠM VI</a:t>
            </a:r>
          </a:p>
        </p:txBody>
      </p:sp>
      <p:sp>
        <p:nvSpPr>
          <p:cNvPr id="2" name="">
            <a:extLst xmlns:a="http://schemas.openxmlformats.org/drawingml/2006/main">
              <a:ext uri="{FF2B5EF4-FFF2-40B4-BE49-F238E27FC236}">
                <a16:creationId xmlns:a16="http://schemas.microsoft.com/office/drawing/2014/main" id="{65D422B9-4300-4408-A4DD-5CAA80860B8E}"/>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Tách rõ dữ liệu nghiên cứu và dữ liệu demo</a:t>
            </a:r>
          </a:p>
        </p:txBody>
      </p:sp>
      <p:sp>
        <p:nvSpPr>
          <p:cNvPr id="3" name="">
            <a:extLst xmlns:a="http://schemas.openxmlformats.org/drawingml/2006/main">
              <a:ext uri="{FF2B5EF4-FFF2-40B4-BE49-F238E27FC236}">
                <a16:creationId xmlns:a16="http://schemas.microsoft.com/office/drawing/2014/main" id="{9FC8C2E2-5B5E-4432-8E5A-885CDB27F45D}"/>
              </a:ext>
            </a:extLst>
          </p:cNvPr>
          <p:cNvSpPr>
            <a:spLocks xmlns:a="http://schemas.openxmlformats.org/drawingml/2006/main" noGrp="1"/>
          </p:cNvSpPr>
          <p:nvPr/>
        </p:nvSpPr>
        <p:spPr>
          <a:xfrm xmlns:a="http://schemas.openxmlformats.org/drawingml/2006/main">
            <a:off x="6858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Nghiên cứu offline</a:t>
            </a:r>
          </a:p>
        </p:txBody>
      </p:sp>
      <p:sp>
        <p:nvSpPr>
          <p:cNvPr id="4" name="">
            <a:extLst xmlns:a="http://schemas.openxmlformats.org/drawingml/2006/main">
              <a:ext uri="{FF2B5EF4-FFF2-40B4-BE49-F238E27FC236}">
                <a16:creationId xmlns:a16="http://schemas.microsoft.com/office/drawing/2014/main" id="{A3B34A48-D9E3-445E-B059-3F24B590AAC5}"/>
              </a:ext>
            </a:extLst>
          </p:cNvPr>
          <p:cNvSpPr>
            <a:spLocks xmlns:a="http://schemas.openxmlformats.org/drawingml/2006/main" noGrp="1"/>
          </p:cNvSpPr>
          <p:nvPr/>
        </p:nvSpPr>
        <p:spPr>
          <a:xfrm xmlns:a="http://schemas.openxmlformats.org/drawingml/2006/main">
            <a:off x="64770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Ứng dụng local</a:t>
            </a:r>
          </a:p>
        </p:txBody>
      </p:sp>
      <p:sp>
        <p:nvSpPr>
          <p:cNvPr id="5" name="">
            <a:extLst xmlns:a="http://schemas.openxmlformats.org/drawingml/2006/main">
              <a:ext uri="{FF2B5EF4-FFF2-40B4-BE49-F238E27FC236}">
                <a16:creationId xmlns:a16="http://schemas.microsoft.com/office/drawing/2014/main" id="{AE7F90E7-A63D-4F2C-BF41-50B073461588}"/>
              </a:ext>
            </a:extLst>
          </p:cNvPr>
          <p:cNvSpPr>
            <a:spLocks xmlns:a="http://schemas.openxmlformats.org/drawingml/2006/main" noGrp="1"/>
          </p:cNvSpPr>
          <p:nvPr/>
        </p:nvSpPr>
        <p:spPr>
          <a:xfrm xmlns:a="http://schemas.openxmlformats.org/drawingml/2006/main">
            <a:off x="6858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Corpus công khai C-Pack-IPAs và ITSP</a:t>
            </a:r>
          </a:p>
        </p:txBody>
      </p:sp>
      <p:sp>
        <p:nvSpPr>
          <p:cNvPr id="6" name="">
            <a:extLst xmlns:a="http://schemas.openxmlformats.org/drawingml/2006/main">
              <a:ext uri="{FF2B5EF4-FFF2-40B4-BE49-F238E27FC236}">
                <a16:creationId xmlns:a16="http://schemas.microsoft.com/office/drawing/2014/main" id="{1B9E079D-6212-4CFB-B875-35FF5D0899D9}"/>
              </a:ext>
            </a:extLst>
          </p:cNvPr>
          <p:cNvSpPr>
            <a:spLocks xmlns:a="http://schemas.openxmlformats.org/drawingml/2006/main" noGrp="1"/>
          </p:cNvSpPr>
          <p:nvPr/>
        </p:nvSpPr>
        <p:spPr>
          <a:xfrm xmlns:a="http://schemas.openxmlformats.org/drawingml/2006/main">
            <a:off x="6858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Phân tích log kiểm thử lịch sử</a:t>
            </a:r>
          </a:p>
        </p:txBody>
      </p:sp>
      <p:sp>
        <p:nvSpPr>
          <p:cNvPr id="7" name="">
            <a:extLst xmlns:a="http://schemas.openxmlformats.org/drawingml/2006/main">
              <a:ext uri="{FF2B5EF4-FFF2-40B4-BE49-F238E27FC236}">
                <a16:creationId xmlns:a16="http://schemas.microsoft.com/office/drawing/2014/main" id="{3BA19D40-2C36-4A94-A8F3-08C26E9F2C49}"/>
              </a:ext>
            </a:extLst>
          </p:cNvPr>
          <p:cNvSpPr>
            <a:spLocks xmlns:a="http://schemas.openxmlformats.org/drawingml/2006/main" noGrp="1"/>
          </p:cNvSpPr>
          <p:nvPr/>
        </p:nvSpPr>
        <p:spPr>
          <a:xfrm xmlns:a="http://schemas.openxmlformats.org/drawingml/2006/main">
            <a:off x="6858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Có split, hash và hồ sơ cấu hình</a:t>
            </a:r>
          </a:p>
        </p:txBody>
      </p:sp>
      <p:sp>
        <p:nvSpPr>
          <p:cNvPr id="8" name="">
            <a:extLst xmlns:a="http://schemas.openxmlformats.org/drawingml/2006/main">
              <a:ext uri="{FF2B5EF4-FFF2-40B4-BE49-F238E27FC236}">
                <a16:creationId xmlns:a16="http://schemas.microsoft.com/office/drawing/2014/main" id="{AD892435-D0E8-44EF-A967-57E60C2BF378}"/>
              </a:ext>
            </a:extLst>
          </p:cNvPr>
          <p:cNvSpPr>
            <a:spLocks xmlns:a="http://schemas.openxmlformats.org/drawingml/2006/main" noGrp="1"/>
          </p:cNvSpPr>
          <p:nvPr/>
        </p:nvSpPr>
        <p:spPr>
          <a:xfrm xmlns:a="http://schemas.openxmlformats.org/drawingml/2006/main">
            <a:off x="64770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Sáu bài luyện C17 do dự án viết</a:t>
            </a:r>
          </a:p>
        </p:txBody>
      </p:sp>
      <p:sp>
        <p:nvSpPr>
          <p:cNvPr id="9" name="">
            <a:extLst xmlns:a="http://schemas.openxmlformats.org/drawingml/2006/main">
              <a:ext uri="{FF2B5EF4-FFF2-40B4-BE49-F238E27FC236}">
                <a16:creationId xmlns:a16="http://schemas.microsoft.com/office/drawing/2014/main" id="{9C66EF2D-64A4-4463-ADEF-86F84A039635}"/>
              </a:ext>
            </a:extLst>
          </p:cNvPr>
          <p:cNvSpPr>
            <a:spLocks xmlns:a="http://schemas.openxmlformats.org/drawingml/2006/main" noGrp="1"/>
          </p:cNvSpPr>
          <p:nvPr/>
        </p:nvSpPr>
        <p:spPr>
          <a:xfrm xmlns:a="http://schemas.openxmlformats.org/drawingml/2006/main">
            <a:off x="64770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Chạy bài mới trong Docker</a:t>
            </a:r>
          </a:p>
        </p:txBody>
      </p:sp>
      <p:sp>
        <p:nvSpPr>
          <p:cNvPr id="10" name="">
            <a:extLst xmlns:a="http://schemas.openxmlformats.org/drawingml/2006/main">
              <a:ext uri="{FF2B5EF4-FFF2-40B4-BE49-F238E27FC236}">
                <a16:creationId xmlns:a16="http://schemas.microsoft.com/office/drawing/2014/main" id="{4F154556-2A8C-4686-8950-4720966572A7}"/>
              </a:ext>
            </a:extLst>
          </p:cNvPr>
          <p:cNvSpPr>
            <a:spLocks xmlns:a="http://schemas.openxmlformats.org/drawingml/2006/main" noGrp="1"/>
          </p:cNvSpPr>
          <p:nvPr/>
        </p:nvSpPr>
        <p:spPr>
          <a:xfrm xmlns:a="http://schemas.openxmlformats.org/drawingml/2006/main">
            <a:off x="64770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Tài khoản DEMO và database riêng</a:t>
            </a:r>
          </a:p>
        </p:txBody>
      </p:sp>
      <p:sp>
        <p:nvSpPr>
          <p:cNvPr id="11" name="">
            <a:extLst xmlns:a="http://schemas.openxmlformats.org/drawingml/2006/main">
              <a:ext uri="{FF2B5EF4-FFF2-40B4-BE49-F238E27FC236}">
                <a16:creationId xmlns:a16="http://schemas.microsoft.com/office/drawing/2014/main" id="{ABD90893-718C-46F8-9948-68991B8E89C6}"/>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04 / 18</a:t>
            </a:r>
          </a:p>
        </p:txBody>
      </p:sp>
      <p:sp>
        <p:nvSpPr>
          <p:cNvPr id="12" name="">
            <a:extLst xmlns:a="http://schemas.openxmlformats.org/drawingml/2006/main">
              <a:ext uri="{FF2B5EF4-FFF2-40B4-BE49-F238E27FC236}">
                <a16:creationId xmlns:a16="http://schemas.microsoft.com/office/drawing/2014/main" id="{C9F5BDB3-C346-4E62-B6A7-261B359B34B5}"/>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3" name="">
            <a:extLst xmlns:a="http://schemas.openxmlformats.org/drawingml/2006/main">
              <a:ext uri="{FF2B5EF4-FFF2-40B4-BE49-F238E27FC236}">
                <a16:creationId xmlns:a16="http://schemas.microsoft.com/office/drawing/2014/main" id="{8EDE24C5-1149-4F8A-A98F-D7685840725B}"/>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Kết quả demo không được nhập vào corpus hoặc sealed test.</a:t>
            </a:r>
          </a:p>
        </p:txBody>
      </p:sp>
    </p:spTree>
    <p:extLst>
      <p:ext uri="{BB962C8B-B14F-4D97-AF65-F5344CB8AC3E}">
        <p14:creationId xmlns:p14="http://schemas.microsoft.com/office/powerpoint/2010/main" val="497215004"/>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63F21D-71B5-446D-92CD-8D50E9C3F1D4}"/>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DỮ LIỆU C-PACK-IPAs</a:t>
            </a:r>
          </a:p>
        </p:txBody>
      </p:sp>
      <p:sp>
        <p:nvSpPr>
          <p:cNvPr id="2" name="">
            <a:extLst xmlns:a="http://schemas.openxmlformats.org/drawingml/2006/main">
              <a:ext uri="{FF2B5EF4-FFF2-40B4-BE49-F238E27FC236}">
                <a16:creationId xmlns:a16="http://schemas.microsoft.com/office/drawing/2014/main" id="{1DAAB44B-EC35-42EB-94B6-0E86D00145A8}"/>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8.607 bài nộp được kiểm toán trước khi phân tích</a:t>
            </a:r>
          </a:p>
        </p:txBody>
      </p:sp>
      <p:graphicFrame>
        <p:nvGraphicFramePr>
          <p:cNvPr id="9" name="Chart"/>
          <p:cNvGraphicFramePr/>
          <p:nvPr/>
        </p:nvGraphicFramePr>
        <p:xfrm>
          <a:off xmlns:a="http://schemas.openxmlformats.org/drawingml/2006/main" x="666750" y="2209800"/>
          <a:ext xmlns:a="http://schemas.openxmlformats.org/drawingml/2006/main" cx="10820400" cy="3286125"/>
        </p:xfrm>
        <a:graphic xmlns:a="http://schemas.openxmlformats.org/drawingml/2006/main">
          <a:graphicData uri="http://schemas.openxmlformats.org/drawingml/2006/chart">
            <c:chart xmlns:r="http://schemas.openxmlformats.org/officeDocument/2006/relationships" xmlns:c="http://schemas.openxmlformats.org/drawingml/2006/chart" r:id="R9b2d29cac9d444c9"/>
          </a:graphicData>
        </a:graphic>
      </p:graphicFrame>
      <p:sp>
        <p:nvSpPr>
          <p:cNvPr id="4" name="">
            <a:extLst xmlns:a="http://schemas.openxmlformats.org/drawingml/2006/main">
              <a:ext uri="{FF2B5EF4-FFF2-40B4-BE49-F238E27FC236}">
                <a16:creationId xmlns:a16="http://schemas.microsoft.com/office/drawing/2014/main" id="{38DFDFCE-1A41-4875-AEF0-B265D8DCD7B6}"/>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05 / 18</a:t>
            </a:r>
          </a:p>
        </p:txBody>
      </p:sp>
      <p:sp>
        <p:nvSpPr>
          <p:cNvPr id="5" name="">
            <a:extLst xmlns:a="http://schemas.openxmlformats.org/drawingml/2006/main">
              <a:ext uri="{FF2B5EF4-FFF2-40B4-BE49-F238E27FC236}">
                <a16:creationId xmlns:a16="http://schemas.microsoft.com/office/drawing/2014/main" id="{FEBD0090-D1C1-4AB5-8B8B-DEA0679C3DE4}"/>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8BBA2758-701E-4C31-B043-BE5E6D70A181}"/>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246 ID sinh viên ẩn danh · 25 bài tập · 106 cặp input và oracle</a:t>
            </a:r>
          </a:p>
        </p:txBody>
      </p:sp>
    </p:spTree>
    <p:extLst>
      <p:ext uri="{BB962C8B-B14F-4D97-AF65-F5344CB8AC3E}">
        <p14:creationId xmlns:p14="http://schemas.microsoft.com/office/powerpoint/2010/main" val="53686349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7B9706-B9CB-49E5-80F1-630FB7CCA69A}"/>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TRÁNH RÒ RỈ THÔNG TIN</a:t>
            </a:r>
          </a:p>
        </p:txBody>
      </p:sp>
      <p:sp>
        <p:nvSpPr>
          <p:cNvPr id="2" name="">
            <a:extLst xmlns:a="http://schemas.openxmlformats.org/drawingml/2006/main">
              <a:ext uri="{FF2B5EF4-FFF2-40B4-BE49-F238E27FC236}">
                <a16:creationId xmlns:a16="http://schemas.microsoft.com/office/drawing/2014/main" id="{8A198421-83D4-4CB4-BEEC-1B4080B35C04}"/>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Chia tập theo người học và source trùng</a:t>
            </a:r>
          </a:p>
        </p:txBody>
      </p:sp>
      <p:graphicFrame>
        <p:nvGraphicFramePr>
          <p:cNvPr id="9" name=""/>
          <p:cNvGraphicFramePr/>
          <p:nvPr/>
        </p:nvGraphicFramePr>
        <p:xfrm>
          <a:off xmlns:a="http://schemas.openxmlformats.org/drawingml/2006/main" x="685800" y="2286000"/>
          <a:ext xmlns:a="http://schemas.openxmlformats.org/drawingml/2006/main" cx="10820400" cy="2857500"/>
        </p:xfrm>
        <a:graphic xmlns:a="http://schemas.openxmlformats.org/drawingml/2006/main">
          <a:graphicData uri="http://schemas.openxmlformats.org/drawingml/2006/table">
            <a:tbl>
              <a:tblPr/>
              <a:tblGrid>
                <a:gridCol w="3524250"/>
                <a:gridCol w="2809875"/>
                <a:gridCol w="4486275"/>
              </a:tblGrid>
              <a:tr h="714375">
                <a:tc>
                  <a:txBody>
                    <a:bodyPr/>
                    <a:lstStyle/>
                    <a:p>
                      <a:r>
                        <a:rPr sz="1875" b="1">
                          <a:solidFill>
                            <a:srgbClr val="FFFFFF"/>
                          </a:solidFill>
                          <a:latin typeface="Arial"/>
                          <a:ea typeface="Arial"/>
                          <a:cs typeface="Arial"/>
                        </a:rPr>
                        <a:t>Partition</a:t>
                      </a:r>
                    </a:p>
                  </a:txBody>
                  <a:tcPr marL="91440" marR="91440" marT="45720" marB="45720">
                    <a:solidFill>
                      <a:srgbClr val="173A35"/>
                    </a:solidFill>
                  </a:tcPr>
                </a:tc>
                <a:tc>
                  <a:txBody>
                    <a:bodyPr/>
                    <a:lstStyle/>
                    <a:p>
                      <a:r>
                        <a:rPr sz="1875" b="1">
                          <a:solidFill>
                            <a:srgbClr val="FFFFFF"/>
                          </a:solidFill>
                          <a:latin typeface="Arial"/>
                          <a:ea typeface="Arial"/>
                          <a:cs typeface="Arial"/>
                        </a:rPr>
                        <a:t>Bài nộp</a:t>
                      </a:r>
                    </a:p>
                  </a:txBody>
                  <a:tcPr marL="91440" marR="91440" marT="45720" marB="45720">
                    <a:solidFill>
                      <a:srgbClr val="173A35"/>
                    </a:solidFill>
                  </a:tcPr>
                </a:tc>
                <a:tc>
                  <a:txBody>
                    <a:bodyPr/>
                    <a:lstStyle/>
                    <a:p>
                      <a:r>
                        <a:rPr sz="1875" b="1">
                          <a:solidFill>
                            <a:srgbClr val="FFFFFF"/>
                          </a:solidFill>
                          <a:latin typeface="Arial"/>
                          <a:ea typeface="Arial"/>
                          <a:cs typeface="Arial"/>
                        </a:rPr>
                        <a:t>Sinh viên</a:t>
                      </a:r>
                    </a:p>
                  </a:txBody>
                  <a:tcPr marL="91440" marR="91440" marT="45720" marB="45720">
                    <a:solidFill>
                      <a:srgbClr val="173A35"/>
                    </a:solidFill>
                  </a:tcPr>
                </a:tc>
              </a:tr>
              <a:tr h="714375">
                <a:tc>
                  <a:txBody>
                    <a:bodyPr/>
                    <a:lstStyle/>
                    <a:p>
                      <a:r>
                        <a:rPr sz="1875" b="0">
                          <a:solidFill>
                            <a:srgbClr val="173A35"/>
                          </a:solidFill>
                          <a:latin typeface="Arial"/>
                          <a:ea typeface="Arial"/>
                          <a:cs typeface="Arial"/>
                        </a:rPr>
                        <a:t>Train</a:t>
                      </a:r>
                    </a:p>
                  </a:txBody>
                  <a:tcPr marL="91440" marR="91440" marT="45720" marB="45720">
                    <a:solidFill>
                      <a:srgbClr val="FFFFFF"/>
                    </a:solidFill>
                  </a:tcPr>
                </a:tc>
                <a:tc>
                  <a:txBody>
                    <a:bodyPr/>
                    <a:lstStyle/>
                    <a:p>
                      <a:r>
                        <a:rPr sz="1875" b="0">
                          <a:solidFill>
                            <a:srgbClr val="173A35"/>
                          </a:solidFill>
                          <a:latin typeface="Arial"/>
                          <a:ea typeface="Arial"/>
                          <a:cs typeface="Arial"/>
                        </a:rPr>
                        <a:t>6.088</a:t>
                      </a:r>
                    </a:p>
                  </a:txBody>
                  <a:tcPr marL="91440" marR="91440" marT="45720" marB="45720">
                    <a:solidFill>
                      <a:srgbClr val="FFFFFF"/>
                    </a:solidFill>
                  </a:tcPr>
                </a:tc>
                <a:tc>
                  <a:txBody>
                    <a:bodyPr/>
                    <a:lstStyle/>
                    <a:p>
                      <a:r>
                        <a:rPr sz="1875" b="0">
                          <a:solidFill>
                            <a:srgbClr val="173A35"/>
                          </a:solidFill>
                          <a:latin typeface="Arial"/>
                          <a:ea typeface="Arial"/>
                          <a:cs typeface="Arial"/>
                        </a:rPr>
                        <a:t>167</a:t>
                      </a:r>
                    </a:p>
                  </a:txBody>
                  <a:tcPr marL="91440" marR="91440" marT="45720" marB="45720">
                    <a:solidFill>
                      <a:srgbClr val="FFFFFF"/>
                    </a:solidFill>
                  </a:tcPr>
                </a:tc>
              </a:tr>
              <a:tr h="714375">
                <a:tc>
                  <a:txBody>
                    <a:bodyPr/>
                    <a:lstStyle/>
                    <a:p>
                      <a:r>
                        <a:rPr sz="1875" b="0">
                          <a:solidFill>
                            <a:srgbClr val="173A35"/>
                          </a:solidFill>
                          <a:latin typeface="Arial"/>
                          <a:ea typeface="Arial"/>
                          <a:cs typeface="Arial"/>
                        </a:rPr>
                        <a:t>Validation</a:t>
                      </a:r>
                    </a:p>
                  </a:txBody>
                  <a:tcPr marL="91440" marR="91440" marT="45720" marB="45720">
                    <a:solidFill>
                      <a:srgbClr val="E4ECE6"/>
                    </a:solidFill>
                  </a:tcPr>
                </a:tc>
                <a:tc>
                  <a:txBody>
                    <a:bodyPr/>
                    <a:lstStyle/>
                    <a:p>
                      <a:r>
                        <a:rPr sz="1875" b="0">
                          <a:solidFill>
                            <a:srgbClr val="173A35"/>
                          </a:solidFill>
                          <a:latin typeface="Arial"/>
                          <a:ea typeface="Arial"/>
                          <a:cs typeface="Arial"/>
                        </a:rPr>
                        <a:t>1.569</a:t>
                      </a:r>
                    </a:p>
                  </a:txBody>
                  <a:tcPr marL="91440" marR="91440" marT="45720" marB="45720">
                    <a:solidFill>
                      <a:srgbClr val="E4ECE6"/>
                    </a:solidFill>
                  </a:tcPr>
                </a:tc>
                <a:tc>
                  <a:txBody>
                    <a:bodyPr/>
                    <a:lstStyle/>
                    <a:p>
                      <a:r>
                        <a:rPr sz="1875" b="0">
                          <a:solidFill>
                            <a:srgbClr val="173A35"/>
                          </a:solidFill>
                          <a:latin typeface="Arial"/>
                          <a:ea typeface="Arial"/>
                          <a:cs typeface="Arial"/>
                        </a:rPr>
                        <a:t>51</a:t>
                      </a:r>
                    </a:p>
                  </a:txBody>
                  <a:tcPr marL="91440" marR="91440" marT="45720" marB="45720">
                    <a:solidFill>
                      <a:srgbClr val="E4ECE6"/>
                    </a:solidFill>
                  </a:tcPr>
                </a:tc>
              </a:tr>
              <a:tr h="714375">
                <a:tc>
                  <a:txBody>
                    <a:bodyPr/>
                    <a:lstStyle/>
                    <a:p>
                      <a:r>
                        <a:rPr sz="1875" b="0">
                          <a:solidFill>
                            <a:srgbClr val="173A35"/>
                          </a:solidFill>
                          <a:latin typeface="Arial"/>
                          <a:ea typeface="Arial"/>
                          <a:cs typeface="Arial"/>
                        </a:rPr>
                        <a:t>Sealed test</a:t>
                      </a:r>
                    </a:p>
                  </a:txBody>
                  <a:tcPr marL="91440" marR="91440" marT="45720" marB="45720">
                    <a:solidFill>
                      <a:srgbClr val="FFFFFF"/>
                    </a:solidFill>
                  </a:tcPr>
                </a:tc>
                <a:tc>
                  <a:txBody>
                    <a:bodyPr/>
                    <a:lstStyle/>
                    <a:p>
                      <a:r>
                        <a:rPr sz="1875" b="0">
                          <a:solidFill>
                            <a:srgbClr val="173A35"/>
                          </a:solidFill>
                          <a:latin typeface="Arial"/>
                          <a:ea typeface="Arial"/>
                          <a:cs typeface="Arial"/>
                        </a:rPr>
                        <a:t>950</a:t>
                      </a:r>
                    </a:p>
                  </a:txBody>
                  <a:tcPr marL="91440" marR="91440" marT="45720" marB="45720">
                    <a:solidFill>
                      <a:srgbClr val="FFFFFF"/>
                    </a:solidFill>
                  </a:tcPr>
                </a:tc>
                <a:tc>
                  <a:txBody>
                    <a:bodyPr/>
                    <a:lstStyle/>
                    <a:p>
                      <a:r>
                        <a:rPr sz="1875" b="0">
                          <a:solidFill>
                            <a:srgbClr val="173A35"/>
                          </a:solidFill>
                          <a:latin typeface="Arial"/>
                          <a:ea typeface="Arial"/>
                          <a:cs typeface="Arial"/>
                        </a:rPr>
                        <a:t>28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1CDD72-C0A9-4E95-9FD6-1E1CEF18E13A}"/>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06 / 18</a:t>
            </a:r>
          </a:p>
        </p:txBody>
      </p:sp>
      <p:sp>
        <p:nvSpPr>
          <p:cNvPr id="5" name="">
            <a:extLst xmlns:a="http://schemas.openxmlformats.org/drawingml/2006/main">
              <a:ext uri="{FF2B5EF4-FFF2-40B4-BE49-F238E27FC236}">
                <a16:creationId xmlns:a16="http://schemas.microsoft.com/office/drawing/2014/main" id="{B9A07067-1F89-4D25-9A61-835C4FA177BC}"/>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8B6E8C2A-8C2D-4B4A-9117-4B36576E380C}"/>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Sealed test chưa được dùng để đánh giá phương pháp.</a:t>
            </a:r>
          </a:p>
        </p:txBody>
      </p:sp>
    </p:spTree>
    <p:extLst>
      <p:ext uri="{BB962C8B-B14F-4D97-AF65-F5344CB8AC3E}">
        <p14:creationId xmlns:p14="http://schemas.microsoft.com/office/powerpoint/2010/main" val="1790729168"/>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1638CC-AC6A-4EB9-9E99-74AB8B3DF87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BIỂU DIỄN</a:t>
            </a:r>
          </a:p>
        </p:txBody>
      </p:sp>
      <p:sp>
        <p:nvSpPr>
          <p:cNvPr id="2" name="">
            <a:extLst xmlns:a="http://schemas.openxmlformats.org/drawingml/2006/main">
              <a:ext uri="{FF2B5EF4-FFF2-40B4-BE49-F238E27FC236}">
                <a16:creationId xmlns:a16="http://schemas.microsoft.com/office/drawing/2014/main" id="{261EEA37-E895-41CB-A2BA-E409E03767EF}"/>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OAV là bảng quan sát của từng bài</a:t>
            </a:r>
          </a:p>
        </p:txBody>
      </p:sp>
      <p:graphicFrame>
        <p:nvGraphicFramePr>
          <p:cNvPr id="9" name=""/>
          <p:cNvGraphicFramePr/>
          <p:nvPr/>
        </p:nvGraphicFramePr>
        <p:xfrm>
          <a:off xmlns:a="http://schemas.openxmlformats.org/drawingml/2006/main" x="685800" y="2286000"/>
          <a:ext xmlns:a="http://schemas.openxmlformats.org/drawingml/2006/main" cx="10820400" cy="2857500"/>
        </p:xfrm>
        <a:graphic xmlns:a="http://schemas.openxmlformats.org/drawingml/2006/main">
          <a:graphicData uri="http://schemas.openxmlformats.org/drawingml/2006/table">
            <a:tbl>
              <a:tblPr/>
              <a:tblGrid>
                <a:gridCol w="3524250"/>
                <a:gridCol w="2809875"/>
                <a:gridCol w="4486275"/>
              </a:tblGrid>
              <a:tr h="571500">
                <a:tc>
                  <a:txBody>
                    <a:bodyPr/>
                    <a:lstStyle/>
                    <a:p>
                      <a:r>
                        <a:rPr sz="1875" b="1">
                          <a:solidFill>
                            <a:srgbClr val="FFFFFF"/>
                          </a:solidFill>
                          <a:latin typeface="Arial"/>
                          <a:ea typeface="Arial"/>
                          <a:cs typeface="Arial"/>
                        </a:rPr>
                        <a:t>Object</a:t>
                      </a:r>
                    </a:p>
                  </a:txBody>
                  <a:tcPr marL="91440" marR="91440" marT="45720" marB="45720">
                    <a:solidFill>
                      <a:srgbClr val="173A35"/>
                    </a:solidFill>
                  </a:tcPr>
                </a:tc>
                <a:tc>
                  <a:txBody>
                    <a:bodyPr/>
                    <a:lstStyle/>
                    <a:p>
                      <a:r>
                        <a:rPr sz="1875" b="1">
                          <a:solidFill>
                            <a:srgbClr val="FFFFFF"/>
                          </a:solidFill>
                          <a:latin typeface="Arial"/>
                          <a:ea typeface="Arial"/>
                          <a:cs typeface="Arial"/>
                        </a:rPr>
                        <a:t>Attribute</a:t>
                      </a:r>
                    </a:p>
                  </a:txBody>
                  <a:tcPr marL="91440" marR="91440" marT="45720" marB="45720">
                    <a:solidFill>
                      <a:srgbClr val="173A35"/>
                    </a:solidFill>
                  </a:tcPr>
                </a:tc>
                <a:tc>
                  <a:txBody>
                    <a:bodyPr/>
                    <a:lstStyle/>
                    <a:p>
                      <a:r>
                        <a:rPr sz="1875" b="1">
                          <a:solidFill>
                            <a:srgbClr val="FFFFFF"/>
                          </a:solidFill>
                          <a:latin typeface="Arial"/>
                          <a:ea typeface="Arial"/>
                          <a:cs typeface="Arial"/>
                        </a:rPr>
                        <a:t>Value</a:t>
                      </a:r>
                    </a:p>
                  </a:txBody>
                  <a:tcPr marL="91440" marR="91440" marT="45720" marB="45720">
                    <a:solidFill>
                      <a:srgbClr val="173A35"/>
                    </a:solidFill>
                  </a:tcPr>
                </a:tc>
              </a:tr>
              <a:tr h="571500">
                <a:tc>
                  <a:txBody>
                    <a:bodyPr/>
                    <a:lstStyle/>
                    <a:p>
                      <a:r>
                        <a:rPr sz="1875" b="0">
                          <a:solidFill>
                            <a:srgbClr val="173A35"/>
                          </a:solidFill>
                          <a:latin typeface="Arial"/>
                          <a:ea typeface="Arial"/>
                          <a:cs typeface="Arial"/>
                        </a:rPr>
                        <a:t>Bài luôn in 0</a:t>
                      </a:r>
                    </a:p>
                  </a:txBody>
                  <a:tcPr marL="91440" marR="91440" marT="45720" marB="45720">
                    <a:solidFill>
                      <a:srgbClr val="FFFFFF"/>
                    </a:solidFill>
                  </a:tcPr>
                </a:tc>
                <a:tc>
                  <a:txBody>
                    <a:bodyPr/>
                    <a:lstStyle/>
                    <a:p>
                      <a:r>
                        <a:rPr sz="1875" b="0">
                          <a:solidFill>
                            <a:srgbClr val="173A35"/>
                          </a:solidFill>
                          <a:latin typeface="Arial"/>
                          <a:ea typeface="Arial"/>
                          <a:cs typeface="Arial"/>
                        </a:rPr>
                        <a:t>Test n=0</a:t>
                      </a:r>
                    </a:p>
                  </a:txBody>
                  <a:tcPr marL="91440" marR="91440" marT="45720" marB="45720">
                    <a:solidFill>
                      <a:srgbClr val="FFFFFF"/>
                    </a:solidFill>
                  </a:tcPr>
                </a:tc>
                <a:tc>
                  <a:txBody>
                    <a:bodyPr/>
                    <a:lstStyle/>
                    <a:p>
                      <a:r>
                        <a:rPr sz="1875" b="0">
                          <a:solidFill>
                            <a:srgbClr val="173A35"/>
                          </a:solidFill>
                          <a:latin typeface="Arial"/>
                          <a:ea typeface="Arial"/>
                          <a:cs typeface="Arial"/>
                        </a:rPr>
                        <a:t>pass</a:t>
                      </a:r>
                    </a:p>
                  </a:txBody>
                  <a:tcPr marL="91440" marR="91440" marT="45720" marB="45720">
                    <a:solidFill>
                      <a:srgbClr val="FFFFFF"/>
                    </a:solidFill>
                  </a:tcPr>
                </a:tc>
              </a:tr>
              <a:tr h="571500">
                <a:tc>
                  <a:txBody>
                    <a:bodyPr/>
                    <a:lstStyle/>
                    <a:p>
                      <a:r>
                        <a:rPr sz="1875" b="0">
                          <a:solidFill>
                            <a:srgbClr val="173A35"/>
                          </a:solidFill>
                          <a:latin typeface="Arial"/>
                          <a:ea typeface="Arial"/>
                          <a:cs typeface="Arial"/>
                        </a:rPr>
                        <a:t>Bài luôn in 0</a:t>
                      </a:r>
                    </a:p>
                  </a:txBody>
                  <a:tcPr marL="91440" marR="91440" marT="45720" marB="45720">
                    <a:solidFill>
                      <a:srgbClr val="E4ECE6"/>
                    </a:solidFill>
                  </a:tcPr>
                </a:tc>
                <a:tc>
                  <a:txBody>
                    <a:bodyPr/>
                    <a:lstStyle/>
                    <a:p>
                      <a:r>
                        <a:rPr sz="1875" b="0">
                          <a:solidFill>
                            <a:srgbClr val="173A35"/>
                          </a:solidFill>
                          <a:latin typeface="Arial"/>
                          <a:ea typeface="Arial"/>
                          <a:cs typeface="Arial"/>
                        </a:rPr>
                        <a:t>Test n=2</a:t>
                      </a:r>
                    </a:p>
                  </a:txBody>
                  <a:tcPr marL="91440" marR="91440" marT="45720" marB="45720">
                    <a:solidFill>
                      <a:srgbClr val="E4ECE6"/>
                    </a:solidFill>
                  </a:tcPr>
                </a:tc>
                <a:tc>
                  <a:txBody>
                    <a:bodyPr/>
                    <a:lstStyle/>
                    <a:p>
                      <a:r>
                        <a:rPr sz="1875" b="0">
                          <a:solidFill>
                            <a:srgbClr val="173A35"/>
                          </a:solidFill>
                          <a:latin typeface="Arial"/>
                          <a:ea typeface="Arial"/>
                          <a:cs typeface="Arial"/>
                        </a:rPr>
                        <a:t>fail</a:t>
                      </a:r>
                    </a:p>
                  </a:txBody>
                  <a:tcPr marL="91440" marR="91440" marT="45720" marB="45720">
                    <a:solidFill>
                      <a:srgbClr val="E4ECE6"/>
                    </a:solidFill>
                  </a:tcPr>
                </a:tc>
              </a:tr>
              <a:tr h="571500">
                <a:tc>
                  <a:txBody>
                    <a:bodyPr/>
                    <a:lstStyle/>
                    <a:p>
                      <a:r>
                        <a:rPr sz="1875" b="0">
                          <a:solidFill>
                            <a:srgbClr val="173A35"/>
                          </a:solidFill>
                          <a:latin typeface="Arial"/>
                          <a:ea typeface="Arial"/>
                          <a:cs typeface="Arial"/>
                        </a:rPr>
                        <a:t>Bài luôn in 0</a:t>
                      </a:r>
                    </a:p>
                  </a:txBody>
                  <a:tcPr marL="91440" marR="91440" marT="45720" marB="45720">
                    <a:solidFill>
                      <a:srgbClr val="FFFFFF"/>
                    </a:solidFill>
                  </a:tcPr>
                </a:tc>
                <a:tc>
                  <a:txBody>
                    <a:bodyPr/>
                    <a:lstStyle/>
                    <a:p>
                      <a:r>
                        <a:rPr sz="1875" b="0">
                          <a:solidFill>
                            <a:srgbClr val="173A35"/>
                          </a:solidFill>
                          <a:latin typeface="Arial"/>
                          <a:ea typeface="Arial"/>
                          <a:cs typeface="Arial"/>
                        </a:rPr>
                        <a:t>Có vòng lặp</a:t>
                      </a:r>
                    </a:p>
                  </a:txBody>
                  <a:tcPr marL="91440" marR="91440" marT="45720" marB="45720">
                    <a:solidFill>
                      <a:srgbClr val="FFFFFF"/>
                    </a:solidFill>
                  </a:tcPr>
                </a:tc>
                <a:tc>
                  <a:txBody>
                    <a:bodyPr/>
                    <a:lstStyle/>
                    <a:p>
                      <a:r>
                        <a:rPr sz="1875" b="0">
                          <a:solidFill>
                            <a:srgbClr val="173A35"/>
                          </a:solidFill>
                          <a:latin typeface="Arial"/>
                          <a:ea typeface="Arial"/>
                          <a:cs typeface="Arial"/>
                        </a:rPr>
                        <a:t>không</a:t>
                      </a:r>
                    </a:p>
                  </a:txBody>
                  <a:tcPr marL="91440" marR="91440" marT="45720" marB="45720">
                    <a:solidFill>
                      <a:srgbClr val="FFFFFF"/>
                    </a:solidFill>
                  </a:tcPr>
                </a:tc>
              </a:tr>
              <a:tr h="571500">
                <a:tc>
                  <a:txBody>
                    <a:bodyPr/>
                    <a:lstStyle/>
                    <a:p>
                      <a:r>
                        <a:rPr sz="1875" b="0">
                          <a:solidFill>
                            <a:srgbClr val="173A35"/>
                          </a:solidFill>
                          <a:latin typeface="Arial"/>
                          <a:ea typeface="Arial"/>
                          <a:cs typeface="Arial"/>
                        </a:rPr>
                        <a:t>Bài luôn in 0</a:t>
                      </a:r>
                    </a:p>
                  </a:txBody>
                  <a:tcPr marL="91440" marR="91440" marT="45720" marB="45720">
                    <a:solidFill>
                      <a:srgbClr val="E4ECE6"/>
                    </a:solidFill>
                  </a:tcPr>
                </a:tc>
                <a:tc>
                  <a:txBody>
                    <a:bodyPr/>
                    <a:lstStyle/>
                    <a:p>
                      <a:r>
                        <a:rPr sz="1875" b="0">
                          <a:solidFill>
                            <a:srgbClr val="173A35"/>
                          </a:solidFill>
                          <a:latin typeface="Arial"/>
                          <a:ea typeface="Arial"/>
                          <a:cs typeface="Arial"/>
                        </a:rPr>
                        <a:t>Output với n=2</a:t>
                      </a:r>
                    </a:p>
                  </a:txBody>
                  <a:tcPr marL="91440" marR="91440" marT="45720" marB="45720">
                    <a:solidFill>
                      <a:srgbClr val="E4ECE6"/>
                    </a:solidFill>
                  </a:tcPr>
                </a:tc>
                <a:tc>
                  <a:txBody>
                    <a:bodyPr/>
                    <a:lstStyle/>
                    <a:p>
                      <a:r>
                        <a:rPr sz="1875" b="0">
                          <a:solidFill>
                            <a:srgbClr val="173A35"/>
                          </a:solidFill>
                          <a:latin typeface="Arial"/>
                          <a:ea typeface="Arial"/>
                          <a:cs typeface="Arial"/>
                        </a:rPr>
                        <a:t>khác giá trị mong đợi</a:t>
                      </a:r>
                    </a:p>
                  </a:txBody>
                  <a:tcPr marL="91440" marR="91440" marT="45720" marB="45720">
                    <a:solidFill>
                      <a:srgbClr val="E4ECE6"/>
                    </a:solidFill>
                  </a:tcPr>
                </a:tc>
              </a:tr>
            </a:tbl>
          </a:graphicData>
        </a:graphic>
      </p:graphicFrame>
      <p:sp>
        <p:nvSpPr>
          <p:cNvPr id="4" name="">
            <a:extLst xmlns:a="http://schemas.openxmlformats.org/drawingml/2006/main">
              <a:ext uri="{FF2B5EF4-FFF2-40B4-BE49-F238E27FC236}">
                <a16:creationId xmlns:a16="http://schemas.microsoft.com/office/drawing/2014/main" id="{7C600BCE-96B8-44DD-B331-2BDF83AA33C5}"/>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07 / 18</a:t>
            </a:r>
          </a:p>
        </p:txBody>
      </p:sp>
      <p:sp>
        <p:nvSpPr>
          <p:cNvPr id="5" name="">
            <a:extLst xmlns:a="http://schemas.openxmlformats.org/drawingml/2006/main">
              <a:ext uri="{FF2B5EF4-FFF2-40B4-BE49-F238E27FC236}">
                <a16:creationId xmlns:a16="http://schemas.microsoft.com/office/drawing/2014/main" id="{360758BE-AB44-4ADF-A83C-67B3FA99EAC3}"/>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CC9E7DB2-5E35-46CC-8FC2-27B0C84AE774}"/>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Không có thuộc tính “sinh viên không hiểu vòng lặp” trong dữ liệu đầu vào.</a:t>
            </a:r>
          </a:p>
        </p:txBody>
      </p:sp>
    </p:spTree>
    <p:extLst>
      <p:ext uri="{BB962C8B-B14F-4D97-AF65-F5344CB8AC3E}">
        <p14:creationId xmlns:p14="http://schemas.microsoft.com/office/powerpoint/2010/main" val="1234630009"/>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E04D33-0BA8-455C-86DE-B57357A4D81A}"/>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ĐẶC TRƯNG</a:t>
            </a:r>
          </a:p>
        </p:txBody>
      </p:sp>
      <p:sp>
        <p:nvSpPr>
          <p:cNvPr id="2" name="">
            <a:extLst xmlns:a="http://schemas.openxmlformats.org/drawingml/2006/main">
              <a:ext uri="{FF2B5EF4-FFF2-40B4-BE49-F238E27FC236}">
                <a16:creationId xmlns:a16="http://schemas.microsoft.com/office/drawing/2014/main" id="{AA3DC717-9495-4573-9946-1835D46B89AD}"/>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Kết hợp ba nguồn thông tin</a:t>
            </a:r>
          </a:p>
        </p:txBody>
      </p:sp>
      <p:sp>
        <p:nvSpPr>
          <p:cNvPr id="3" name="">
            <a:extLst xmlns:a="http://schemas.openxmlformats.org/drawingml/2006/main">
              <a:ext uri="{FF2B5EF4-FFF2-40B4-BE49-F238E27FC236}">
                <a16:creationId xmlns:a16="http://schemas.microsoft.com/office/drawing/2014/main" id="{C4E80ACF-2449-4172-80D1-5C6ABB73F8D2}"/>
              </a:ext>
            </a:extLst>
          </p:cNvPr>
          <p:cNvSpPr>
            <a:spLocks xmlns:a="http://schemas.openxmlformats.org/drawingml/2006/main" noGrp="1"/>
          </p:cNvSpPr>
          <p:nvPr/>
        </p:nvSpPr>
        <p:spPr>
          <a:xfrm xmlns:a="http://schemas.openxmlformats.org/drawingml/2006/main">
            <a:off x="685800"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48%</a:t>
            </a:r>
          </a:p>
        </p:txBody>
      </p:sp>
      <p:sp>
        <p:nvSpPr>
          <p:cNvPr id="4" name="">
            <a:extLst xmlns:a="http://schemas.openxmlformats.org/drawingml/2006/main">
              <a:ext uri="{FF2B5EF4-FFF2-40B4-BE49-F238E27FC236}">
                <a16:creationId xmlns:a16="http://schemas.microsoft.com/office/drawing/2014/main" id="{C7077DC5-32EC-453F-8BE4-715CA1882840}"/>
              </a:ext>
            </a:extLst>
          </p:cNvPr>
          <p:cNvSpPr>
            <a:spLocks xmlns:a="http://schemas.openxmlformats.org/drawingml/2006/main" noGrp="1"/>
          </p:cNvSpPr>
          <p:nvPr/>
        </p:nvSpPr>
        <p:spPr>
          <a:xfrm xmlns:a="http://schemas.openxmlformats.org/drawingml/2006/main">
            <a:off x="685800"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Test</a:t>
            </a:r>
          </a:p>
        </p:txBody>
      </p:sp>
      <p:sp>
        <p:nvSpPr>
          <p:cNvPr id="5" name="">
            <a:extLst xmlns:a="http://schemas.openxmlformats.org/drawingml/2006/main">
              <a:ext uri="{FF2B5EF4-FFF2-40B4-BE49-F238E27FC236}">
                <a16:creationId xmlns:a16="http://schemas.microsoft.com/office/drawing/2014/main" id="{3F1ABEA8-DCA5-4EB8-8146-25372F076880}"/>
              </a:ext>
            </a:extLst>
          </p:cNvPr>
          <p:cNvSpPr>
            <a:spLocks xmlns:a="http://schemas.openxmlformats.org/drawingml/2006/main" noGrp="1"/>
          </p:cNvSpPr>
          <p:nvPr/>
        </p:nvSpPr>
        <p:spPr>
          <a:xfrm xmlns:a="http://schemas.openxmlformats.org/drawingml/2006/main">
            <a:off x="685800"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Pass, fail hoặc chưa quan sát</a:t>
            </a:r>
          </a:p>
        </p:txBody>
      </p:sp>
      <p:sp>
        <p:nvSpPr>
          <p:cNvPr id="6" name="">
            <a:extLst xmlns:a="http://schemas.openxmlformats.org/drawingml/2006/main">
              <a:ext uri="{FF2B5EF4-FFF2-40B4-BE49-F238E27FC236}">
                <a16:creationId xmlns:a16="http://schemas.microsoft.com/office/drawing/2014/main" id="{89E8CD6B-85E9-4750-B231-6C037C95CF60}"/>
              </a:ext>
            </a:extLst>
          </p:cNvPr>
          <p:cNvSpPr>
            <a:spLocks xmlns:a="http://schemas.openxmlformats.org/drawingml/2006/main" noGrp="1"/>
          </p:cNvSpPr>
          <p:nvPr/>
        </p:nvSpPr>
        <p:spPr>
          <a:xfrm xmlns:a="http://schemas.openxmlformats.org/drawingml/2006/main">
            <a:off x="4448175"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46294060-4B1A-46B7-9682-AC84C2DBE687}"/>
              </a:ext>
            </a:extLst>
          </p:cNvPr>
          <p:cNvSpPr>
            <a:spLocks xmlns:a="http://schemas.openxmlformats.org/drawingml/2006/main" noGrp="1"/>
          </p:cNvSpPr>
          <p:nvPr/>
        </p:nvSpPr>
        <p:spPr>
          <a:xfrm xmlns:a="http://schemas.openxmlformats.org/drawingml/2006/main">
            <a:off x="4448175"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AST</a:t>
            </a:r>
          </a:p>
        </p:txBody>
      </p:sp>
      <p:sp>
        <p:nvSpPr>
          <p:cNvPr id="8" name="">
            <a:extLst xmlns:a="http://schemas.openxmlformats.org/drawingml/2006/main">
              <a:ext uri="{FF2B5EF4-FFF2-40B4-BE49-F238E27FC236}">
                <a16:creationId xmlns:a16="http://schemas.microsoft.com/office/drawing/2014/main" id="{98BFE084-C1D2-4F98-B057-6381EB865ABE}"/>
              </a:ext>
            </a:extLst>
          </p:cNvPr>
          <p:cNvSpPr>
            <a:spLocks xmlns:a="http://schemas.openxmlformats.org/drawingml/2006/main" noGrp="1"/>
          </p:cNvSpPr>
          <p:nvPr/>
        </p:nvSpPr>
        <p:spPr>
          <a:xfrm xmlns:a="http://schemas.openxmlformats.org/drawingml/2006/main">
            <a:off x="4448175"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Sự hiện diện cấu trúc cú pháp</a:t>
            </a:r>
          </a:p>
        </p:txBody>
      </p:sp>
      <p:sp>
        <p:nvSpPr>
          <p:cNvPr id="9" name="">
            <a:extLst xmlns:a="http://schemas.openxmlformats.org/drawingml/2006/main">
              <a:ext uri="{FF2B5EF4-FFF2-40B4-BE49-F238E27FC236}">
                <a16:creationId xmlns:a16="http://schemas.microsoft.com/office/drawing/2014/main" id="{1BDB5EE6-DABC-4897-A8A3-E73C7BED2A18}"/>
              </a:ext>
            </a:extLst>
          </p:cNvPr>
          <p:cNvSpPr>
            <a:spLocks xmlns:a="http://schemas.openxmlformats.org/drawingml/2006/main" noGrp="1"/>
          </p:cNvSpPr>
          <p:nvPr/>
        </p:nvSpPr>
        <p:spPr>
          <a:xfrm xmlns:a="http://schemas.openxmlformats.org/drawingml/2006/main">
            <a:off x="8210550"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40%</a:t>
            </a:r>
          </a:p>
        </p:txBody>
      </p:sp>
      <p:sp>
        <p:nvSpPr>
          <p:cNvPr id="10" name="">
            <a:extLst xmlns:a="http://schemas.openxmlformats.org/drawingml/2006/main">
              <a:ext uri="{FF2B5EF4-FFF2-40B4-BE49-F238E27FC236}">
                <a16:creationId xmlns:a16="http://schemas.microsoft.com/office/drawing/2014/main" id="{816D80EE-3251-4DFB-A2D6-D92185D5C232}"/>
              </a:ext>
            </a:extLst>
          </p:cNvPr>
          <p:cNvSpPr>
            <a:spLocks xmlns:a="http://schemas.openxmlformats.org/drawingml/2006/main" noGrp="1"/>
          </p:cNvSpPr>
          <p:nvPr/>
        </p:nvSpPr>
        <p:spPr>
          <a:xfrm xmlns:a="http://schemas.openxmlformats.org/drawingml/2006/main">
            <a:off x="8210550"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Stdout</a:t>
            </a:r>
          </a:p>
        </p:txBody>
      </p:sp>
      <p:sp>
        <p:nvSpPr>
          <p:cNvPr id="11" name="">
            <a:extLst xmlns:a="http://schemas.openxmlformats.org/drawingml/2006/main">
              <a:ext uri="{FF2B5EF4-FFF2-40B4-BE49-F238E27FC236}">
                <a16:creationId xmlns:a16="http://schemas.microsoft.com/office/drawing/2014/main" id="{62372287-3F0E-4FDB-A721-A20941001763}"/>
              </a:ext>
            </a:extLst>
          </p:cNvPr>
          <p:cNvSpPr>
            <a:spLocks xmlns:a="http://schemas.openxmlformats.org/drawingml/2006/main" noGrp="1"/>
          </p:cNvSpPr>
          <p:nvPr/>
        </p:nvSpPr>
        <p:spPr>
          <a:xfrm xmlns:a="http://schemas.openxmlformats.org/drawingml/2006/main">
            <a:off x="8210550"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Quan hệ actual và expected</a:t>
            </a:r>
          </a:p>
        </p:txBody>
      </p:sp>
      <p:sp>
        <p:nvSpPr>
          <p:cNvPr id="12" name="">
            <a:extLst xmlns:a="http://schemas.openxmlformats.org/drawingml/2006/main">
              <a:ext uri="{FF2B5EF4-FFF2-40B4-BE49-F238E27FC236}">
                <a16:creationId xmlns:a16="http://schemas.microsoft.com/office/drawing/2014/main" id="{4C2ED4A4-0F45-4D55-A1A8-7C03B529BAA6}"/>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08 / 18</a:t>
            </a:r>
          </a:p>
        </p:txBody>
      </p:sp>
      <p:sp>
        <p:nvSpPr>
          <p:cNvPr id="13" name="">
            <a:extLst xmlns:a="http://schemas.openxmlformats.org/drawingml/2006/main">
              <a:ext uri="{FF2B5EF4-FFF2-40B4-BE49-F238E27FC236}">
                <a16:creationId xmlns:a16="http://schemas.microsoft.com/office/drawing/2014/main" id="{1A82C0EA-DB01-48CD-9757-46287C0DBA45}"/>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4" name="">
            <a:extLst xmlns:a="http://schemas.openxmlformats.org/drawingml/2006/main">
              <a:ext uri="{FF2B5EF4-FFF2-40B4-BE49-F238E27FC236}">
                <a16:creationId xmlns:a16="http://schemas.microsoft.com/office/drawing/2014/main" id="{0CC8A9FC-D629-4CFC-875A-199D7F0848D8}"/>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Trọng số mặc định khi đủ các khối; fit phép biến đổi trên train.</a:t>
            </a:r>
          </a:p>
        </p:txBody>
      </p:sp>
    </p:spTree>
    <p:extLst>
      <p:ext uri="{BB962C8B-B14F-4D97-AF65-F5344CB8AC3E}">
        <p14:creationId xmlns:p14="http://schemas.microsoft.com/office/powerpoint/2010/main" val="1926955682"/>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923268-BB98-449A-B9C7-0E05184D63DB}"/>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PHÂN CỤM</a:t>
            </a:r>
          </a:p>
        </p:txBody>
      </p:sp>
      <p:sp>
        <p:nvSpPr>
          <p:cNvPr id="2" name="">
            <a:extLst xmlns:a="http://schemas.openxmlformats.org/drawingml/2006/main">
              <a:ext uri="{FF2B5EF4-FFF2-40B4-BE49-F238E27FC236}">
                <a16:creationId xmlns:a16="http://schemas.microsoft.com/office/drawing/2014/main" id="{A9D9A5B5-718C-4F8E-9D34-D38C0B763AE1}"/>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K-means tạo nhóm, giảng viên kiểm tra ý nghĩa</a:t>
            </a:r>
          </a:p>
        </p:txBody>
      </p:sp>
      <p:sp>
        <p:nvSpPr>
          <p:cNvPr id="3" name="">
            <a:extLst xmlns:a="http://schemas.openxmlformats.org/drawingml/2006/main">
              <a:ext uri="{FF2B5EF4-FFF2-40B4-BE49-F238E27FC236}">
                <a16:creationId xmlns:a16="http://schemas.microsoft.com/office/drawing/2014/main" id="{3F214748-F56D-4F76-BF10-E643E68F53D2}"/>
              </a:ext>
            </a:extLst>
          </p:cNvPr>
          <p:cNvSpPr>
            <a:spLocks xmlns:a="http://schemas.openxmlformats.org/drawingml/2006/main" noGrp="1"/>
          </p:cNvSpPr>
          <p:nvPr/>
        </p:nvSpPr>
        <p:spPr>
          <a:xfrm xmlns:a="http://schemas.openxmlformats.org/drawingml/2006/main">
            <a:off x="6858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Máy thực hiện</a:t>
            </a:r>
          </a:p>
        </p:txBody>
      </p:sp>
      <p:sp>
        <p:nvSpPr>
          <p:cNvPr id="4" name="">
            <a:extLst xmlns:a="http://schemas.openxmlformats.org/drawingml/2006/main">
              <a:ext uri="{FF2B5EF4-FFF2-40B4-BE49-F238E27FC236}">
                <a16:creationId xmlns:a16="http://schemas.microsoft.com/office/drawing/2014/main" id="{39DBF4C6-ADFC-4457-B7BF-8E544EABC35D}"/>
              </a:ext>
            </a:extLst>
          </p:cNvPr>
          <p:cNvSpPr>
            <a:spLocks xmlns:a="http://schemas.openxmlformats.org/drawingml/2006/main" noGrp="1"/>
          </p:cNvSpPr>
          <p:nvPr/>
        </p:nvSpPr>
        <p:spPr>
          <a:xfrm xmlns:a="http://schemas.openxmlformats.org/drawingml/2006/main">
            <a:off x="64770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Người dạy kiểm tra</a:t>
            </a:r>
          </a:p>
        </p:txBody>
      </p:sp>
      <p:sp>
        <p:nvSpPr>
          <p:cNvPr id="5" name="">
            <a:extLst xmlns:a="http://schemas.openxmlformats.org/drawingml/2006/main">
              <a:ext uri="{FF2B5EF4-FFF2-40B4-BE49-F238E27FC236}">
                <a16:creationId xmlns:a16="http://schemas.microsoft.com/office/drawing/2014/main" id="{E94A3927-625B-456C-AEF3-300E75E7C574}"/>
              </a:ext>
            </a:extLst>
          </p:cNvPr>
          <p:cNvSpPr>
            <a:spLocks xmlns:a="http://schemas.openxmlformats.org/drawingml/2006/main" noGrp="1"/>
          </p:cNvSpPr>
          <p:nvPr/>
        </p:nvSpPr>
        <p:spPr>
          <a:xfrm xmlns:a="http://schemas.openxmlformats.org/drawingml/2006/main">
            <a:off x="6858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Gom các vector OAV gần nhau</a:t>
            </a:r>
          </a:p>
        </p:txBody>
      </p:sp>
      <p:sp>
        <p:nvSpPr>
          <p:cNvPr id="6" name="">
            <a:extLst xmlns:a="http://schemas.openxmlformats.org/drawingml/2006/main">
              <a:ext uri="{FF2B5EF4-FFF2-40B4-BE49-F238E27FC236}">
                <a16:creationId xmlns:a16="http://schemas.microsoft.com/office/drawing/2014/main" id="{58327053-C80A-409F-BF2E-D5A6B41A3AE1}"/>
              </a:ext>
            </a:extLst>
          </p:cNvPr>
          <p:cNvSpPr>
            <a:spLocks xmlns:a="http://schemas.openxmlformats.org/drawingml/2006/main" noGrp="1"/>
          </p:cNvSpPr>
          <p:nvPr/>
        </p:nvSpPr>
        <p:spPr>
          <a:xfrm xmlns:a="http://schemas.openxmlformats.org/drawingml/2006/main">
            <a:off x="6858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App cho chọn k = 2 hoặc 3</a:t>
            </a:r>
          </a:p>
        </p:txBody>
      </p:sp>
      <p:sp>
        <p:nvSpPr>
          <p:cNvPr id="7" name="">
            <a:extLst xmlns:a="http://schemas.openxmlformats.org/drawingml/2006/main">
              <a:ext uri="{FF2B5EF4-FFF2-40B4-BE49-F238E27FC236}">
                <a16:creationId xmlns:a16="http://schemas.microsoft.com/office/drawing/2014/main" id="{EA0B7C27-FC00-4162-B702-F682C12FB6D2}"/>
              </a:ext>
            </a:extLst>
          </p:cNvPr>
          <p:cNvSpPr>
            <a:spLocks xmlns:a="http://schemas.openxmlformats.org/drawingml/2006/main" noGrp="1"/>
          </p:cNvSpPr>
          <p:nvPr/>
        </p:nvSpPr>
        <p:spPr>
          <a:xfrm xmlns:a="http://schemas.openxmlformats.org/drawingml/2006/main">
            <a:off x="6858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Chọn medoid là bài có thật để xem</a:t>
            </a:r>
          </a:p>
        </p:txBody>
      </p:sp>
      <p:sp>
        <p:nvSpPr>
          <p:cNvPr id="8" name="">
            <a:extLst xmlns:a="http://schemas.openxmlformats.org/drawingml/2006/main">
              <a:ext uri="{FF2B5EF4-FFF2-40B4-BE49-F238E27FC236}">
                <a16:creationId xmlns:a16="http://schemas.microsoft.com/office/drawing/2014/main" id="{232D0BE9-DF4C-4AD2-933B-B2D399FCFC43}"/>
              </a:ext>
            </a:extLst>
          </p:cNvPr>
          <p:cNvSpPr>
            <a:spLocks xmlns:a="http://schemas.openxmlformats.org/drawingml/2006/main" noGrp="1"/>
          </p:cNvSpPr>
          <p:nvPr/>
        </p:nvSpPr>
        <p:spPr>
          <a:xfrm xmlns:a="http://schemas.openxmlformats.org/drawingml/2006/main">
            <a:off x="64770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Các thành viên có cùng cơ chế không?</a:t>
            </a:r>
          </a:p>
        </p:txBody>
      </p:sp>
      <p:sp>
        <p:nvSpPr>
          <p:cNvPr id="9" name="">
            <a:extLst xmlns:a="http://schemas.openxmlformats.org/drawingml/2006/main">
              <a:ext uri="{FF2B5EF4-FFF2-40B4-BE49-F238E27FC236}">
                <a16:creationId xmlns:a16="http://schemas.microsoft.com/office/drawing/2014/main" id="{0B33440D-E2F1-4EE4-AD65-049B74FC1259}"/>
              </a:ext>
            </a:extLst>
          </p:cNvPr>
          <p:cNvSpPr>
            <a:spLocks xmlns:a="http://schemas.openxmlformats.org/drawingml/2006/main" noGrp="1"/>
          </p:cNvSpPr>
          <p:nvPr/>
        </p:nvSpPr>
        <p:spPr>
          <a:xfrm xmlns:a="http://schemas.openxmlformats.org/drawingml/2006/main">
            <a:off x="64770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Có ngoại lệ hoặc nhóm trộn không?</a:t>
            </a:r>
          </a:p>
        </p:txBody>
      </p:sp>
      <p:sp>
        <p:nvSpPr>
          <p:cNvPr id="10" name="">
            <a:extLst xmlns:a="http://schemas.openxmlformats.org/drawingml/2006/main">
              <a:ext uri="{FF2B5EF4-FFF2-40B4-BE49-F238E27FC236}">
                <a16:creationId xmlns:a16="http://schemas.microsoft.com/office/drawing/2014/main" id="{DCF14EC7-308F-446B-AE2C-E93348F9A1AD}"/>
              </a:ext>
            </a:extLst>
          </p:cNvPr>
          <p:cNvSpPr>
            <a:spLocks xmlns:a="http://schemas.openxmlformats.org/drawingml/2006/main" noGrp="1"/>
          </p:cNvSpPr>
          <p:nvPr/>
        </p:nvSpPr>
        <p:spPr>
          <a:xfrm xmlns:a="http://schemas.openxmlformats.org/drawingml/2006/main">
            <a:off x="64770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Cần hỏi thêm điều gì để xác nhận?</a:t>
            </a:r>
          </a:p>
        </p:txBody>
      </p:sp>
      <p:sp>
        <p:nvSpPr>
          <p:cNvPr id="11" name="">
            <a:extLst xmlns:a="http://schemas.openxmlformats.org/drawingml/2006/main">
              <a:ext uri="{FF2B5EF4-FFF2-40B4-BE49-F238E27FC236}">
                <a16:creationId xmlns:a16="http://schemas.microsoft.com/office/drawing/2014/main" id="{838F1155-F6D9-4C13-A2E6-CE297A005BEB}"/>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09 / 18</a:t>
            </a:r>
          </a:p>
        </p:txBody>
      </p:sp>
      <p:sp>
        <p:nvSpPr>
          <p:cNvPr id="12" name="">
            <a:extLst xmlns:a="http://schemas.openxmlformats.org/drawingml/2006/main">
              <a:ext uri="{FF2B5EF4-FFF2-40B4-BE49-F238E27FC236}">
                <a16:creationId xmlns:a16="http://schemas.microsoft.com/office/drawing/2014/main" id="{F2F09E03-BCF9-493C-B57E-AF9D2BBA44FF}"/>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3" name="">
            <a:extLst xmlns:a="http://schemas.openxmlformats.org/drawingml/2006/main">
              <a:ext uri="{FF2B5EF4-FFF2-40B4-BE49-F238E27FC236}">
                <a16:creationId xmlns:a16="http://schemas.microsoft.com/office/drawing/2014/main" id="{53609701-94E2-4875-B0A0-EC015491C1D2}"/>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Không đủ mẫu hoặc đặc trưng không phân biệt được → từ chối tạo cụm.</a:t>
            </a:r>
          </a:p>
        </p:txBody>
      </p:sp>
    </p:spTree>
    <p:extLst>
      <p:ext uri="{BB962C8B-B14F-4D97-AF65-F5344CB8AC3E}">
        <p14:creationId xmlns:p14="http://schemas.microsoft.com/office/powerpoint/2010/main" val="1853315241"/>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9B5A42-A80B-432E-A772-C1550F9057D3}"/>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IF–THEN</a:t>
            </a:r>
          </a:p>
        </p:txBody>
      </p:sp>
      <p:sp>
        <p:nvSpPr>
          <p:cNvPr id="2" name="">
            <a:extLst xmlns:a="http://schemas.openxmlformats.org/drawingml/2006/main">
              <a:ext uri="{FF2B5EF4-FFF2-40B4-BE49-F238E27FC236}">
                <a16:creationId xmlns:a16="http://schemas.microsoft.com/office/drawing/2014/main" id="{5211CBF7-20C2-4AB7-9B37-C8F884952186}"/>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Luật giải thích cụm, chưa xác nhận quan niệm sai</a:t>
            </a:r>
          </a:p>
        </p:txBody>
      </p:sp>
      <p:sp>
        <p:nvSpPr>
          <p:cNvPr id="3" name="">
            <a:extLst xmlns:a="http://schemas.openxmlformats.org/drawingml/2006/main">
              <a:ext uri="{FF2B5EF4-FFF2-40B4-BE49-F238E27FC236}">
                <a16:creationId xmlns:a16="http://schemas.microsoft.com/office/drawing/2014/main" id="{965A97E4-3893-4EFF-8E6F-69D36EBE913E}"/>
              </a:ext>
            </a:extLst>
          </p:cNvPr>
          <p:cNvSpPr>
            <a:spLocks xmlns:a="http://schemas.openxmlformats.org/drawingml/2006/main" noGrp="1"/>
          </p:cNvSpPr>
          <p:nvPr/>
        </p:nvSpPr>
        <p:spPr>
          <a:xfrm xmlns:a="http://schemas.openxmlformats.org/drawingml/2006/main">
            <a:off x="6858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Cây giải thích</a:t>
            </a:r>
          </a:p>
        </p:txBody>
      </p:sp>
      <p:sp>
        <p:nvSpPr>
          <p:cNvPr id="4" name="">
            <a:extLst xmlns:a="http://schemas.openxmlformats.org/drawingml/2006/main">
              <a:ext uri="{FF2B5EF4-FFF2-40B4-BE49-F238E27FC236}">
                <a16:creationId xmlns:a16="http://schemas.microsoft.com/office/drawing/2014/main" id="{413E5ACE-EFF3-4D69-926F-E19C461ED32D}"/>
              </a:ext>
            </a:extLst>
          </p:cNvPr>
          <p:cNvSpPr>
            <a:spLocks xmlns:a="http://schemas.openxmlformats.org/drawingml/2006/main" noGrp="1"/>
          </p:cNvSpPr>
          <p:nvPr/>
        </p:nvSpPr>
        <p:spPr>
          <a:xfrm xmlns:a="http://schemas.openxmlformats.org/drawingml/2006/main">
            <a:off x="64770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Đọc chỉ số đúng</a:t>
            </a:r>
          </a:p>
        </p:txBody>
      </p:sp>
      <p:sp>
        <p:nvSpPr>
          <p:cNvPr id="5" name="">
            <a:extLst xmlns:a="http://schemas.openxmlformats.org/drawingml/2006/main">
              <a:ext uri="{FF2B5EF4-FFF2-40B4-BE49-F238E27FC236}">
                <a16:creationId xmlns:a16="http://schemas.microsoft.com/office/drawing/2014/main" id="{7BCA7BD1-4F36-43EE-A0F6-A376EF5E44BC}"/>
              </a:ext>
            </a:extLst>
          </p:cNvPr>
          <p:cNvSpPr>
            <a:spLocks xmlns:a="http://schemas.openxmlformats.org/drawingml/2006/main" noGrp="1"/>
          </p:cNvSpPr>
          <p:nvPr/>
        </p:nvSpPr>
        <p:spPr>
          <a:xfrm xmlns:a="http://schemas.openxmlformats.org/drawingml/2006/main">
            <a:off x="6858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Đầu vào: các đặc trưng OAV</a:t>
            </a:r>
          </a:p>
        </p:txBody>
      </p:sp>
      <p:sp>
        <p:nvSpPr>
          <p:cNvPr id="6" name="">
            <a:extLst xmlns:a="http://schemas.openxmlformats.org/drawingml/2006/main">
              <a:ext uri="{FF2B5EF4-FFF2-40B4-BE49-F238E27FC236}">
                <a16:creationId xmlns:a16="http://schemas.microsoft.com/office/drawing/2014/main" id="{35CAA12B-9411-477A-B788-6E550DFBACFD}"/>
              </a:ext>
            </a:extLst>
          </p:cNvPr>
          <p:cNvSpPr>
            <a:spLocks xmlns:a="http://schemas.openxmlformats.org/drawingml/2006/main" noGrp="1"/>
          </p:cNvSpPr>
          <p:nvPr/>
        </p:nvSpPr>
        <p:spPr>
          <a:xfrm xmlns:a="http://schemas.openxmlformats.org/drawingml/2006/main">
            <a:off x="6858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Nhãn đích: ID cụm đã tạo</a:t>
            </a:r>
          </a:p>
        </p:txBody>
      </p:sp>
      <p:sp>
        <p:nvSpPr>
          <p:cNvPr id="7" name="">
            <a:extLst xmlns:a="http://schemas.openxmlformats.org/drawingml/2006/main">
              <a:ext uri="{FF2B5EF4-FFF2-40B4-BE49-F238E27FC236}">
                <a16:creationId xmlns:a16="http://schemas.microsoft.com/office/drawing/2014/main" id="{2D7EEFF1-E290-4F75-9A84-BEA183A26A65}"/>
              </a:ext>
            </a:extLst>
          </p:cNvPr>
          <p:cNvSpPr>
            <a:spLocks xmlns:a="http://schemas.openxmlformats.org/drawingml/2006/main" noGrp="1"/>
          </p:cNvSpPr>
          <p:nvPr/>
        </p:nvSpPr>
        <p:spPr>
          <a:xfrm xmlns:a="http://schemas.openxmlformats.org/drawingml/2006/main">
            <a:off x="6858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Độ sâu tối đa 3 để luật dễ đọc</a:t>
            </a:r>
          </a:p>
        </p:txBody>
      </p:sp>
      <p:sp>
        <p:nvSpPr>
          <p:cNvPr id="8" name="">
            <a:extLst xmlns:a="http://schemas.openxmlformats.org/drawingml/2006/main">
              <a:ext uri="{FF2B5EF4-FFF2-40B4-BE49-F238E27FC236}">
                <a16:creationId xmlns:a16="http://schemas.microsoft.com/office/drawing/2014/main" id="{B21C1F6C-1B96-4BC2-973A-6F446A6DEABA}"/>
              </a:ext>
            </a:extLst>
          </p:cNvPr>
          <p:cNvSpPr>
            <a:spLocks xmlns:a="http://schemas.openxmlformats.org/drawingml/2006/main" noGrp="1"/>
          </p:cNvSpPr>
          <p:nvPr/>
        </p:nvSpPr>
        <p:spPr>
          <a:xfrm xmlns:a="http://schemas.openxmlformats.org/drawingml/2006/main">
            <a:off x="64770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Support: bao nhiêu mẫu thỏa luật</a:t>
            </a:r>
          </a:p>
        </p:txBody>
      </p:sp>
      <p:sp>
        <p:nvSpPr>
          <p:cNvPr id="9" name="">
            <a:extLst xmlns:a="http://schemas.openxmlformats.org/drawingml/2006/main">
              <a:ext uri="{FF2B5EF4-FFF2-40B4-BE49-F238E27FC236}">
                <a16:creationId xmlns:a16="http://schemas.microsoft.com/office/drawing/2014/main" id="{A8D44F49-0153-46E8-B165-D4D8BB3E9F04}"/>
              </a:ext>
            </a:extLst>
          </p:cNvPr>
          <p:cNvSpPr>
            <a:spLocks xmlns:a="http://schemas.openxmlformats.org/drawingml/2006/main" noGrp="1"/>
          </p:cNvSpPr>
          <p:nvPr/>
        </p:nvSpPr>
        <p:spPr>
          <a:xfrm xmlns:a="http://schemas.openxmlformats.org/drawingml/2006/main">
            <a:off x="64770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Fidelity: cây đồng ý với gán cụm</a:t>
            </a:r>
          </a:p>
        </p:txBody>
      </p:sp>
      <p:sp>
        <p:nvSpPr>
          <p:cNvPr id="10" name="">
            <a:extLst xmlns:a="http://schemas.openxmlformats.org/drawingml/2006/main">
              <a:ext uri="{FF2B5EF4-FFF2-40B4-BE49-F238E27FC236}">
                <a16:creationId xmlns:a16="http://schemas.microsoft.com/office/drawing/2014/main" id="{1C4AC194-8057-418F-B427-25556413349F}"/>
              </a:ext>
            </a:extLst>
          </p:cNvPr>
          <p:cNvSpPr>
            <a:spLocks xmlns:a="http://schemas.openxmlformats.org/drawingml/2006/main" noGrp="1"/>
          </p:cNvSpPr>
          <p:nvPr/>
        </p:nvSpPr>
        <p:spPr>
          <a:xfrm xmlns:a="http://schemas.openxmlformats.org/drawingml/2006/main">
            <a:off x="64770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Silhouette: độ tách biệt trong biểu diễn</a:t>
            </a:r>
          </a:p>
        </p:txBody>
      </p:sp>
      <p:sp>
        <p:nvSpPr>
          <p:cNvPr id="11" name="">
            <a:extLst xmlns:a="http://schemas.openxmlformats.org/drawingml/2006/main">
              <a:ext uri="{FF2B5EF4-FFF2-40B4-BE49-F238E27FC236}">
                <a16:creationId xmlns:a16="http://schemas.microsoft.com/office/drawing/2014/main" id="{FEE11E7B-1A78-4BFC-A186-3C5CDEC00374}"/>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10 / 18</a:t>
            </a:r>
          </a:p>
        </p:txBody>
      </p:sp>
      <p:sp>
        <p:nvSpPr>
          <p:cNvPr id="12" name="">
            <a:extLst xmlns:a="http://schemas.openxmlformats.org/drawingml/2006/main">
              <a:ext uri="{FF2B5EF4-FFF2-40B4-BE49-F238E27FC236}">
                <a16:creationId xmlns:a16="http://schemas.microsoft.com/office/drawing/2014/main" id="{008F4F18-51EA-453F-9C27-15777A790AF8}"/>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3" name="">
            <a:extLst xmlns:a="http://schemas.openxmlformats.org/drawingml/2006/main">
              <a:ext uri="{FF2B5EF4-FFF2-40B4-BE49-F238E27FC236}">
                <a16:creationId xmlns:a16="http://schemas.microsoft.com/office/drawing/2014/main" id="{4C24723D-5F12-4D07-817A-5E5D5C2C6398}"/>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Fidelity 100% không phải accuracy misconception 100%.</a:t>
            </a:r>
          </a:p>
        </p:txBody>
      </p:sp>
    </p:spTree>
    <p:extLst>
      <p:ext uri="{BB962C8B-B14F-4D97-AF65-F5344CB8AC3E}">
        <p14:creationId xmlns:p14="http://schemas.microsoft.com/office/powerpoint/2010/main" val="323068191"/>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111B5F-9EFE-441E-8F32-CA25C41E6D20}"/>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KẾT QUẢ ĐÃ CHẠY</a:t>
            </a:r>
          </a:p>
        </p:txBody>
      </p:sp>
      <p:sp>
        <p:nvSpPr>
          <p:cNvPr id="2" name="">
            <a:extLst xmlns:a="http://schemas.openxmlformats.org/drawingml/2006/main">
              <a:ext uri="{FF2B5EF4-FFF2-40B4-BE49-F238E27FC236}">
                <a16:creationId xmlns:a16="http://schemas.microsoft.com/office/drawing/2014/main" id="{4F253277-EB60-4638-9E7A-F4AC669CBEF6}"/>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675 lượt baseline có hồ sơ truy vết</a:t>
            </a:r>
          </a:p>
        </p:txBody>
      </p:sp>
      <p:sp>
        <p:nvSpPr>
          <p:cNvPr id="3" name="">
            <a:extLst xmlns:a="http://schemas.openxmlformats.org/drawingml/2006/main">
              <a:ext uri="{FF2B5EF4-FFF2-40B4-BE49-F238E27FC236}">
                <a16:creationId xmlns:a16="http://schemas.microsoft.com/office/drawing/2014/main" id="{521F4AC9-0B70-4870-83F1-2C01BE4C5D0C}"/>
              </a:ext>
            </a:extLst>
          </p:cNvPr>
          <p:cNvSpPr>
            <a:spLocks xmlns:a="http://schemas.openxmlformats.org/drawingml/2006/main" noGrp="1"/>
          </p:cNvSpPr>
          <p:nvPr/>
        </p:nvSpPr>
        <p:spPr>
          <a:xfrm xmlns:a="http://schemas.openxmlformats.org/drawingml/2006/main">
            <a:off x="685800"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624</a:t>
            </a:r>
          </a:p>
        </p:txBody>
      </p:sp>
      <p:sp>
        <p:nvSpPr>
          <p:cNvPr id="4" name="">
            <a:extLst xmlns:a="http://schemas.openxmlformats.org/drawingml/2006/main">
              <a:ext uri="{FF2B5EF4-FFF2-40B4-BE49-F238E27FC236}">
                <a16:creationId xmlns:a16="http://schemas.microsoft.com/office/drawing/2014/main" id="{1ACE0924-7084-4728-B94E-73A70083FD7C}"/>
              </a:ext>
            </a:extLst>
          </p:cNvPr>
          <p:cNvSpPr>
            <a:spLocks xmlns:a="http://schemas.openxmlformats.org/drawingml/2006/main" noGrp="1"/>
          </p:cNvSpPr>
          <p:nvPr/>
        </p:nvSpPr>
        <p:spPr>
          <a:xfrm xmlns:a="http://schemas.openxmlformats.org/drawingml/2006/main">
            <a:off x="685800"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Có kết quả</a:t>
            </a:r>
          </a:p>
        </p:txBody>
      </p:sp>
      <p:sp>
        <p:nvSpPr>
          <p:cNvPr id="5" name="">
            <a:extLst xmlns:a="http://schemas.openxmlformats.org/drawingml/2006/main">
              <a:ext uri="{FF2B5EF4-FFF2-40B4-BE49-F238E27FC236}">
                <a16:creationId xmlns:a16="http://schemas.microsoft.com/office/drawing/2014/main" id="{BFC63430-9C46-4678-97CC-A28F756BCB8C}"/>
              </a:ext>
            </a:extLst>
          </p:cNvPr>
          <p:cNvSpPr>
            <a:spLocks xmlns:a="http://schemas.openxmlformats.org/drawingml/2006/main" noGrp="1"/>
          </p:cNvSpPr>
          <p:nvPr/>
        </p:nvSpPr>
        <p:spPr>
          <a:xfrm xmlns:a="http://schemas.openxmlformats.org/drawingml/2006/main">
            <a:off x="685800"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Các cấu hình đủ điều kiện</a:t>
            </a:r>
          </a:p>
        </p:txBody>
      </p:sp>
      <p:sp>
        <p:nvSpPr>
          <p:cNvPr id="6" name="">
            <a:extLst xmlns:a="http://schemas.openxmlformats.org/drawingml/2006/main">
              <a:ext uri="{FF2B5EF4-FFF2-40B4-BE49-F238E27FC236}">
                <a16:creationId xmlns:a16="http://schemas.microsoft.com/office/drawing/2014/main" id="{772A5BBF-8093-42D4-B755-67A453F3137E}"/>
              </a:ext>
            </a:extLst>
          </p:cNvPr>
          <p:cNvSpPr>
            <a:spLocks xmlns:a="http://schemas.openxmlformats.org/drawingml/2006/main" noGrp="1"/>
          </p:cNvSpPr>
          <p:nvPr/>
        </p:nvSpPr>
        <p:spPr>
          <a:xfrm xmlns:a="http://schemas.openxmlformats.org/drawingml/2006/main">
            <a:off x="4448175"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51</a:t>
            </a:r>
          </a:p>
        </p:txBody>
      </p:sp>
      <p:sp>
        <p:nvSpPr>
          <p:cNvPr id="7" name="">
            <a:extLst xmlns:a="http://schemas.openxmlformats.org/drawingml/2006/main">
              <a:ext uri="{FF2B5EF4-FFF2-40B4-BE49-F238E27FC236}">
                <a16:creationId xmlns:a16="http://schemas.microsoft.com/office/drawing/2014/main" id="{71FE66DB-7407-4290-A457-59BFB798F31B}"/>
              </a:ext>
            </a:extLst>
          </p:cNvPr>
          <p:cNvSpPr>
            <a:spLocks xmlns:a="http://schemas.openxmlformats.org/drawingml/2006/main" noGrp="1"/>
          </p:cNvSpPr>
          <p:nvPr/>
        </p:nvSpPr>
        <p:spPr>
          <a:xfrm xmlns:a="http://schemas.openxmlformats.org/drawingml/2006/main">
            <a:off x="4448175"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Từ chối phân cụm</a:t>
            </a:r>
          </a:p>
        </p:txBody>
      </p:sp>
      <p:sp>
        <p:nvSpPr>
          <p:cNvPr id="8" name="">
            <a:extLst xmlns:a="http://schemas.openxmlformats.org/drawingml/2006/main">
              <a:ext uri="{FF2B5EF4-FFF2-40B4-BE49-F238E27FC236}">
                <a16:creationId xmlns:a16="http://schemas.microsoft.com/office/drawing/2014/main" id="{8DD9D3D3-7E86-4A9F-9795-3C9E420E4F3F}"/>
              </a:ext>
            </a:extLst>
          </p:cNvPr>
          <p:cNvSpPr>
            <a:spLocks xmlns:a="http://schemas.openxmlformats.org/drawingml/2006/main" noGrp="1"/>
          </p:cNvSpPr>
          <p:nvPr/>
        </p:nvSpPr>
        <p:spPr>
          <a:xfrm xmlns:a="http://schemas.openxmlformats.org/drawingml/2006/main">
            <a:off x="4448175"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42 thiếu điều kiện k=3; 9 đồng nhất</a:t>
            </a:r>
          </a:p>
        </p:txBody>
      </p:sp>
      <p:sp>
        <p:nvSpPr>
          <p:cNvPr id="9" name="">
            <a:extLst xmlns:a="http://schemas.openxmlformats.org/drawingml/2006/main">
              <a:ext uri="{FF2B5EF4-FFF2-40B4-BE49-F238E27FC236}">
                <a16:creationId xmlns:a16="http://schemas.microsoft.com/office/drawing/2014/main" id="{FC4557C7-36E8-498B-9813-F4D7B53EAD33}"/>
              </a:ext>
            </a:extLst>
          </p:cNvPr>
          <p:cNvSpPr>
            <a:spLocks xmlns:a="http://schemas.openxmlformats.org/drawingml/2006/main" noGrp="1"/>
          </p:cNvSpPr>
          <p:nvPr/>
        </p:nvSpPr>
        <p:spPr>
          <a:xfrm xmlns:a="http://schemas.openxmlformats.org/drawingml/2006/main">
            <a:off x="8210550" y="2352675"/>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21735E"/>
                </a:solidFill>
                <a:latin typeface="Arial"/>
                <a:ea typeface="Arial"/>
                <a:cs typeface="Arial"/>
              </a:defRPr>
            </a:pPr>
            <a:r>
              <a:rPr sz="6150" b="1">
                <a:solidFill>
                  <a:srgbClr val="21735E"/>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C884E628-1845-432F-AE00-4B643D9F9067}"/>
              </a:ext>
            </a:extLst>
          </p:cNvPr>
          <p:cNvSpPr>
            <a:spLocks xmlns:a="http://schemas.openxmlformats.org/drawingml/2006/main" noGrp="1"/>
          </p:cNvSpPr>
          <p:nvPr/>
        </p:nvSpPr>
        <p:spPr>
          <a:xfrm xmlns:a="http://schemas.openxmlformats.org/drawingml/2006/main">
            <a:off x="8210550" y="36861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A35"/>
                </a:solidFill>
                <a:latin typeface="Arial"/>
                <a:ea typeface="Arial"/>
                <a:cs typeface="Arial"/>
              </a:defRPr>
            </a:pPr>
            <a:r>
              <a:rPr sz="2325" b="1">
                <a:solidFill>
                  <a:srgbClr val="173A35"/>
                </a:solidFill>
                <a:latin typeface="Arial"/>
                <a:ea typeface="Arial"/>
                <a:cs typeface="Arial"/>
              </a:rPr>
              <a:t>Nhãn chuyên gia</a:t>
            </a:r>
          </a:p>
        </p:txBody>
      </p:sp>
      <p:sp>
        <p:nvSpPr>
          <p:cNvPr id="11" name="">
            <a:extLst xmlns:a="http://schemas.openxmlformats.org/drawingml/2006/main">
              <a:ext uri="{FF2B5EF4-FFF2-40B4-BE49-F238E27FC236}">
                <a16:creationId xmlns:a16="http://schemas.microsoft.com/office/drawing/2014/main" id="{6907A7A5-EEFB-4DA8-A885-5C2D59863530}"/>
              </a:ext>
            </a:extLst>
          </p:cNvPr>
          <p:cNvSpPr>
            <a:spLocks xmlns:a="http://schemas.openxmlformats.org/drawingml/2006/main" noGrp="1"/>
          </p:cNvSpPr>
          <p:nvPr/>
        </p:nvSpPr>
        <p:spPr>
          <a:xfrm xmlns:a="http://schemas.openxmlformats.org/drawingml/2006/main">
            <a:off x="8210550" y="45148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25E"/>
                </a:solidFill>
                <a:latin typeface="Arial"/>
                <a:ea typeface="Arial"/>
                <a:cs typeface="Arial"/>
              </a:defRPr>
            </a:pPr>
            <a:r>
              <a:rPr sz="1950" b="0">
                <a:solidFill>
                  <a:srgbClr val="52625E"/>
                </a:solidFill>
                <a:latin typeface="Arial"/>
                <a:ea typeface="Arial"/>
                <a:cs typeface="Arial"/>
              </a:rPr>
              <a:t>Chưa có gold độc lập hoàn tất</a:t>
            </a:r>
          </a:p>
        </p:txBody>
      </p:sp>
      <p:sp>
        <p:nvSpPr>
          <p:cNvPr id="12" name="">
            <a:extLst xmlns:a="http://schemas.openxmlformats.org/drawingml/2006/main">
              <a:ext uri="{FF2B5EF4-FFF2-40B4-BE49-F238E27FC236}">
                <a16:creationId xmlns:a16="http://schemas.microsoft.com/office/drawing/2014/main" id="{451217BD-B3B9-4FE5-85B7-E7B5A166F8BC}"/>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11 / 18</a:t>
            </a:r>
          </a:p>
        </p:txBody>
      </p:sp>
      <p:sp>
        <p:nvSpPr>
          <p:cNvPr id="13" name="">
            <a:extLst xmlns:a="http://schemas.openxmlformats.org/drawingml/2006/main">
              <a:ext uri="{FF2B5EF4-FFF2-40B4-BE49-F238E27FC236}">
                <a16:creationId xmlns:a16="http://schemas.microsoft.com/office/drawing/2014/main" id="{78DAC543-A8F0-4E54-89F7-0479373C25C3}"/>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4" name="">
            <a:extLst xmlns:a="http://schemas.openxmlformats.org/drawingml/2006/main">
              <a:ext uri="{FF2B5EF4-FFF2-40B4-BE49-F238E27FC236}">
                <a16:creationId xmlns:a16="http://schemas.microsoft.com/office/drawing/2014/main" id="{F035C2D3-86E9-49D3-AB35-05886EB6E658}"/>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25 bài × 9 biến thể × 3 seed · không phải 675 người học.</a:t>
            </a:r>
          </a:p>
        </p:txBody>
      </p:sp>
    </p:spTree>
    <p:extLst>
      <p:ext uri="{BB962C8B-B14F-4D97-AF65-F5344CB8AC3E}">
        <p14:creationId xmlns:p14="http://schemas.microsoft.com/office/powerpoint/2010/main" val="1923685918"/>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507517-B8A3-428F-A38E-BF9F87E56A72}"/>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KẾT QUẢ THĂM DÒ ITSP</a:t>
            </a:r>
          </a:p>
        </p:txBody>
      </p:sp>
      <p:sp>
        <p:nvSpPr>
          <p:cNvPr id="2" name="">
            <a:extLst xmlns:a="http://schemas.openxmlformats.org/drawingml/2006/main">
              <a:ext uri="{FF2B5EF4-FFF2-40B4-BE49-F238E27FC236}">
                <a16:creationId xmlns:a16="http://schemas.microsoft.com/office/drawing/2014/main" id="{2DD87055-C8DC-43ED-A709-F1F7B31DCDFC}"/>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Stdout giảm số cặp trùng biểu diễn</a:t>
            </a:r>
          </a:p>
        </p:txBody>
      </p:sp>
      <p:graphicFrame>
        <p:nvGraphicFramePr>
          <p:cNvPr id="9" name="Chart"/>
          <p:cNvGraphicFramePr/>
          <p:nvPr/>
        </p:nvGraphicFramePr>
        <p:xfrm>
          <a:off xmlns:a="http://schemas.openxmlformats.org/drawingml/2006/main" x="1619250" y="2209800"/>
          <a:ext xmlns:a="http://schemas.openxmlformats.org/drawingml/2006/main" cx="8953500" cy="3286125"/>
        </p:xfrm>
        <a:graphic xmlns:a="http://schemas.openxmlformats.org/drawingml/2006/main">
          <a:graphicData uri="http://schemas.openxmlformats.org/drawingml/2006/chart">
            <c:chart xmlns:r="http://schemas.openxmlformats.org/officeDocument/2006/relationships" xmlns:c="http://schemas.openxmlformats.org/drawingml/2006/chart" r:id="Re77ca16e79194120"/>
          </a:graphicData>
        </a:graphic>
      </p:graphicFrame>
      <p:sp>
        <p:nvSpPr>
          <p:cNvPr id="4" name="">
            <a:extLst xmlns:a="http://schemas.openxmlformats.org/drawingml/2006/main">
              <a:ext uri="{FF2B5EF4-FFF2-40B4-BE49-F238E27FC236}">
                <a16:creationId xmlns:a16="http://schemas.microsoft.com/office/drawing/2014/main" id="{E9337924-B279-4E83-B346-5E39167E49F9}"/>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12 / 18</a:t>
            </a:r>
          </a:p>
        </p:txBody>
      </p:sp>
      <p:sp>
        <p:nvSpPr>
          <p:cNvPr id="5" name="">
            <a:extLst xmlns:a="http://schemas.openxmlformats.org/drawingml/2006/main">
              <a:ext uri="{FF2B5EF4-FFF2-40B4-BE49-F238E27FC236}">
                <a16:creationId xmlns:a16="http://schemas.microsoft.com/office/drawing/2014/main" id="{0C13AFA2-69F2-4113-A1FF-2717634AE1F7}"/>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7151986A-2227-4444-A923-1ABA80B7FCB5}"/>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48 bài · 387 cặp trong cùng bài tập · giảm collision, chưa chứng minh tăng accuracy.</a:t>
            </a:r>
          </a:p>
        </p:txBody>
      </p:sp>
    </p:spTree>
    <p:extLst>
      <p:ext uri="{BB962C8B-B14F-4D97-AF65-F5344CB8AC3E}">
        <p14:creationId xmlns:p14="http://schemas.microsoft.com/office/powerpoint/2010/main" val="1112447558"/>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EA4FD9-FA89-413F-B8A0-BDE2F2B842F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PHẢN HỒI</a:t>
            </a:r>
          </a:p>
        </p:txBody>
      </p:sp>
      <p:sp>
        <p:nvSpPr>
          <p:cNvPr id="2" name="">
            <a:extLst xmlns:a="http://schemas.openxmlformats.org/drawingml/2006/main">
              <a:ext uri="{FF2B5EF4-FFF2-40B4-BE49-F238E27FC236}">
                <a16:creationId xmlns:a16="http://schemas.microsoft.com/office/drawing/2014/main" id="{B18D1B89-2335-406C-BDB4-25D1BE9549B7}"/>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JSON có cụm; nhận xét thêm ý nghĩa giảng dạy</a:t>
            </a:r>
          </a:p>
        </p:txBody>
      </p:sp>
      <p:sp>
        <p:nvSpPr>
          <p:cNvPr id="3" name="">
            <a:extLst xmlns:a="http://schemas.openxmlformats.org/drawingml/2006/main">
              <a:ext uri="{FF2B5EF4-FFF2-40B4-BE49-F238E27FC236}">
                <a16:creationId xmlns:a16="http://schemas.microsoft.com/office/drawing/2014/main" id="{6D9A1DF7-B60E-4EED-B473-6188E58D9FEB}"/>
              </a:ext>
            </a:extLst>
          </p:cNvPr>
          <p:cNvSpPr>
            <a:spLocks xmlns:a="http://schemas.openxmlformats.org/drawingml/2006/main" noGrp="1"/>
          </p:cNvSpPr>
          <p:nvPr/>
        </p:nvSpPr>
        <p:spPr>
          <a:xfrm xmlns:a="http://schemas.openxmlformats.org/drawingml/2006/main">
            <a:off x="6858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Kết quả thuật toán</a:t>
            </a:r>
          </a:p>
        </p:txBody>
      </p:sp>
      <p:sp>
        <p:nvSpPr>
          <p:cNvPr id="4" name="">
            <a:extLst xmlns:a="http://schemas.openxmlformats.org/drawingml/2006/main">
              <a:ext uri="{FF2B5EF4-FFF2-40B4-BE49-F238E27FC236}">
                <a16:creationId xmlns:a16="http://schemas.microsoft.com/office/drawing/2014/main" id="{27457239-706C-4CFE-A219-2518FA28051F}"/>
              </a:ext>
            </a:extLst>
          </p:cNvPr>
          <p:cNvSpPr>
            <a:spLocks xmlns:a="http://schemas.openxmlformats.org/drawingml/2006/main" noGrp="1"/>
          </p:cNvSpPr>
          <p:nvPr/>
        </p:nvSpPr>
        <p:spPr>
          <a:xfrm xmlns:a="http://schemas.openxmlformats.org/drawingml/2006/main">
            <a:off x="64770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Nhận xét giảng viên</a:t>
            </a:r>
          </a:p>
        </p:txBody>
      </p:sp>
      <p:sp>
        <p:nvSpPr>
          <p:cNvPr id="5" name="">
            <a:extLst xmlns:a="http://schemas.openxmlformats.org/drawingml/2006/main">
              <a:ext uri="{FF2B5EF4-FFF2-40B4-BE49-F238E27FC236}">
                <a16:creationId xmlns:a16="http://schemas.microsoft.com/office/drawing/2014/main" id="{8833FCEE-7E38-4C7B-A77B-EDD285E51AAC}"/>
              </a:ext>
            </a:extLst>
          </p:cNvPr>
          <p:cNvSpPr>
            <a:spLocks xmlns:a="http://schemas.openxmlformats.org/drawingml/2006/main" noGrp="1"/>
          </p:cNvSpPr>
          <p:nvPr/>
        </p:nvSpPr>
        <p:spPr>
          <a:xfrm xmlns:a="http://schemas.openxmlformats.org/drawingml/2006/main">
            <a:off x="6858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ID và thành viên cụm</a:t>
            </a:r>
          </a:p>
        </p:txBody>
      </p:sp>
      <p:sp>
        <p:nvSpPr>
          <p:cNvPr id="6" name="">
            <a:extLst xmlns:a="http://schemas.openxmlformats.org/drawingml/2006/main">
              <a:ext uri="{FF2B5EF4-FFF2-40B4-BE49-F238E27FC236}">
                <a16:creationId xmlns:a16="http://schemas.microsoft.com/office/drawing/2014/main" id="{3126D6EB-DCFC-40E0-BDEB-597551F833EF}"/>
              </a:ext>
            </a:extLst>
          </p:cNvPr>
          <p:cNvSpPr>
            <a:spLocks xmlns:a="http://schemas.openxmlformats.org/drawingml/2006/main" noGrp="1"/>
          </p:cNvSpPr>
          <p:nvPr/>
        </p:nvSpPr>
        <p:spPr>
          <a:xfrm xmlns:a="http://schemas.openxmlformats.org/drawingml/2006/main">
            <a:off x="6858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Bài đại diện và luật</a:t>
            </a:r>
          </a:p>
        </p:txBody>
      </p:sp>
      <p:sp>
        <p:nvSpPr>
          <p:cNvPr id="7" name="">
            <a:extLst xmlns:a="http://schemas.openxmlformats.org/drawingml/2006/main">
              <a:ext uri="{FF2B5EF4-FFF2-40B4-BE49-F238E27FC236}">
                <a16:creationId xmlns:a16="http://schemas.microsoft.com/office/drawing/2014/main" id="{DB61E7BD-714F-4719-AA8D-3E3BBEE69039}"/>
              </a:ext>
            </a:extLst>
          </p:cNvPr>
          <p:cNvSpPr>
            <a:spLocks xmlns:a="http://schemas.openxmlformats.org/drawingml/2006/main" noGrp="1"/>
          </p:cNvSpPr>
          <p:nvPr/>
        </p:nvSpPr>
        <p:spPr>
          <a:xfrm xmlns:a="http://schemas.openxmlformats.org/drawingml/2006/main">
            <a:off x="6858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Source, test và OAV</a:t>
            </a:r>
          </a:p>
        </p:txBody>
      </p:sp>
      <p:sp>
        <p:nvSpPr>
          <p:cNvPr id="8" name="">
            <a:extLst xmlns:a="http://schemas.openxmlformats.org/drawingml/2006/main">
              <a:ext uri="{FF2B5EF4-FFF2-40B4-BE49-F238E27FC236}">
                <a16:creationId xmlns:a16="http://schemas.microsoft.com/office/drawing/2014/main" id="{761BE524-DDF7-435F-B691-3D3545D542A6}"/>
              </a:ext>
            </a:extLst>
          </p:cNvPr>
          <p:cNvSpPr>
            <a:spLocks xmlns:a="http://schemas.openxmlformats.org/drawingml/2006/main" noGrp="1"/>
          </p:cNvSpPr>
          <p:nvPr/>
        </p:nvSpPr>
        <p:spPr>
          <a:xfrm xmlns:a="http://schemas.openxmlformats.org/drawingml/2006/main">
            <a:off x="64770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Tên nhóm theo biểu hiện</a:t>
            </a:r>
          </a:p>
        </p:txBody>
      </p:sp>
      <p:sp>
        <p:nvSpPr>
          <p:cNvPr id="9" name="">
            <a:extLst xmlns:a="http://schemas.openxmlformats.org/drawingml/2006/main">
              <a:ext uri="{FF2B5EF4-FFF2-40B4-BE49-F238E27FC236}">
                <a16:creationId xmlns:a16="http://schemas.microsoft.com/office/drawing/2014/main" id="{3F2CC9D4-0305-4D80-8CAF-0510E5174332}"/>
              </a:ext>
            </a:extLst>
          </p:cNvPr>
          <p:cNvSpPr>
            <a:spLocks xmlns:a="http://schemas.openxmlformats.org/drawingml/2006/main" noGrp="1"/>
          </p:cNvSpPr>
          <p:nvPr/>
        </p:nvSpPr>
        <p:spPr>
          <a:xfrm xmlns:a="http://schemas.openxmlformats.org/drawingml/2006/main">
            <a:off x="64770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Căn cứ và ngoại lệ đã xem</a:t>
            </a:r>
          </a:p>
        </p:txBody>
      </p:sp>
      <p:sp>
        <p:nvSpPr>
          <p:cNvPr id="10" name="">
            <a:extLst xmlns:a="http://schemas.openxmlformats.org/drawingml/2006/main">
              <a:ext uri="{FF2B5EF4-FFF2-40B4-BE49-F238E27FC236}">
                <a16:creationId xmlns:a16="http://schemas.microsoft.com/office/drawing/2014/main" id="{F3AE1AE9-68C4-4202-8E41-BAA902F4FE3F}"/>
              </a:ext>
            </a:extLst>
          </p:cNvPr>
          <p:cNvSpPr>
            <a:spLocks xmlns:a="http://schemas.openxmlformats.org/drawingml/2006/main" noGrp="1"/>
          </p:cNvSpPr>
          <p:nvPr/>
        </p:nvSpPr>
        <p:spPr>
          <a:xfrm xmlns:a="http://schemas.openxmlformats.org/drawingml/2006/main">
            <a:off x="64770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Câu hỏi kiểm tra hoặc nội dung giảng lại</a:t>
            </a:r>
          </a:p>
        </p:txBody>
      </p:sp>
      <p:sp>
        <p:nvSpPr>
          <p:cNvPr id="11" name="">
            <a:extLst xmlns:a="http://schemas.openxmlformats.org/drawingml/2006/main">
              <a:ext uri="{FF2B5EF4-FFF2-40B4-BE49-F238E27FC236}">
                <a16:creationId xmlns:a16="http://schemas.microsoft.com/office/drawing/2014/main" id="{64788E03-C80B-4BFF-A20F-3D6199C566CA}"/>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13 / 18</a:t>
            </a:r>
          </a:p>
        </p:txBody>
      </p:sp>
      <p:sp>
        <p:nvSpPr>
          <p:cNvPr id="12" name="">
            <a:extLst xmlns:a="http://schemas.openxmlformats.org/drawingml/2006/main">
              <a:ext uri="{FF2B5EF4-FFF2-40B4-BE49-F238E27FC236}">
                <a16:creationId xmlns:a16="http://schemas.microsoft.com/office/drawing/2014/main" id="{89A3AA78-3C48-49B6-8F6B-44F6FE5F9D76}"/>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3" name="">
            <a:extLst xmlns:a="http://schemas.openxmlformats.org/drawingml/2006/main">
              <a:ext uri="{FF2B5EF4-FFF2-40B4-BE49-F238E27FC236}">
                <a16:creationId xmlns:a16="http://schemas.microsoft.com/office/drawing/2014/main" id="{34219A85-33FE-4504-BF5C-21B55D1B5C71}"/>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Ví dụ: yêu cầu liệt kê các số được cộng khi n = 2 và n = 5.</a:t>
            </a:r>
          </a:p>
        </p:txBody>
      </p:sp>
    </p:spTree>
    <p:extLst>
      <p:ext uri="{BB962C8B-B14F-4D97-AF65-F5344CB8AC3E}">
        <p14:creationId xmlns:p14="http://schemas.microsoft.com/office/powerpoint/2010/main" val="569609505"/>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A352C5-8E14-4724-9199-FDF62C9A7889}"/>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GỢI Ý NHẬN XÉT</a:t>
            </a:r>
          </a:p>
        </p:txBody>
      </p:sp>
      <p:sp>
        <p:nvSpPr>
          <p:cNvPr id="2" name="">
            <a:extLst xmlns:a="http://schemas.openxmlformats.org/drawingml/2006/main">
              <a:ext uri="{FF2B5EF4-FFF2-40B4-BE49-F238E27FC236}">
                <a16:creationId xmlns:a16="http://schemas.microsoft.com/office/drawing/2014/main" id="{BC15726C-62F1-4986-9D2F-FD0096960A67}"/>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AI hỗ trợ viết nháp, giảng viên quyết định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3ebcc94506a4f3e"/>
          <a:stretch xmlns:a="http://schemas.openxmlformats.org/drawingml/2006/main"/>
        </p:blipFill>
        <p:spPr>
          <a:xfrm xmlns:a="http://schemas.openxmlformats.org/drawingml/2006/main">
            <a:off x="685800" y="2272634"/>
            <a:ext cx="10820400" cy="31414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8D6819-87AC-4DC4-AA76-33233E827466}"/>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14 / 18</a:t>
            </a:r>
          </a:p>
        </p:txBody>
      </p:sp>
      <p:sp>
        <p:nvSpPr>
          <p:cNvPr id="5" name="">
            <a:extLst xmlns:a="http://schemas.openxmlformats.org/drawingml/2006/main">
              <a:ext uri="{FF2B5EF4-FFF2-40B4-BE49-F238E27FC236}">
                <a16:creationId xmlns:a16="http://schemas.microsoft.com/office/drawing/2014/main" id="{DFA01884-6648-475A-A69E-35A98A068C08}"/>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F83E4106-0160-4D16-AA15-7F0CA753A7BD}"/>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Gợi ý → xem căn cứ → điền bản nháp → sửa → lưu nhận xét</a:t>
            </a:r>
          </a:p>
        </p:txBody>
      </p:sp>
    </p:spTree>
    <p:extLst>
      <p:ext uri="{BB962C8B-B14F-4D97-AF65-F5344CB8AC3E}">
        <p14:creationId xmlns:p14="http://schemas.microsoft.com/office/powerpoint/2010/main" val="1108213570"/>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D34B0C-B745-46B6-AAB9-76FC80E4081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KIỂM THỬ PHẦN MỀM</a:t>
            </a:r>
          </a:p>
        </p:txBody>
      </p:sp>
      <p:sp>
        <p:nvSpPr>
          <p:cNvPr id="2" name="">
            <a:extLst xmlns:a="http://schemas.openxmlformats.org/drawingml/2006/main">
              <a:ext uri="{FF2B5EF4-FFF2-40B4-BE49-F238E27FC236}">
                <a16:creationId xmlns:a16="http://schemas.microsoft.com/office/drawing/2014/main" id="{B04F8D61-2B2C-4B0C-BD3E-EEE00E10CE45}"/>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Ứng dụng đã được kiểm chứng theo từng luồng</a:t>
            </a:r>
          </a:p>
        </p:txBody>
      </p:sp>
      <p:graphicFrame>
        <p:nvGraphicFramePr>
          <p:cNvPr id="9" name=""/>
          <p:cNvGraphicFramePr/>
          <p:nvPr/>
        </p:nvGraphicFramePr>
        <p:xfrm>
          <a:off xmlns:a="http://schemas.openxmlformats.org/drawingml/2006/main" x="685800" y="2286000"/>
          <a:ext xmlns:a="http://schemas.openxmlformats.org/drawingml/2006/main" cx="10820400" cy="2857500"/>
        </p:xfrm>
        <a:graphic xmlns:a="http://schemas.openxmlformats.org/drawingml/2006/main">
          <a:graphicData uri="http://schemas.openxmlformats.org/drawingml/2006/table">
            <a:tbl>
              <a:tblPr/>
              <a:tblGrid>
                <a:gridCol w="3524250"/>
                <a:gridCol w="2809875"/>
                <a:gridCol w="4486275"/>
              </a:tblGrid>
              <a:tr h="571500">
                <a:tc>
                  <a:txBody>
                    <a:bodyPr/>
                    <a:lstStyle/>
                    <a:p>
                      <a:r>
                        <a:rPr sz="1875" b="1">
                          <a:solidFill>
                            <a:srgbClr val="FFFFFF"/>
                          </a:solidFill>
                          <a:latin typeface="Arial"/>
                          <a:ea typeface="Arial"/>
                          <a:cs typeface="Arial"/>
                        </a:rPr>
                        <a:t>Hồ sơ</a:t>
                      </a:r>
                    </a:p>
                  </a:txBody>
                  <a:tcPr marL="91440" marR="91440" marT="45720" marB="45720">
                    <a:solidFill>
                      <a:srgbClr val="173A35"/>
                    </a:solidFill>
                  </a:tcPr>
                </a:tc>
                <a:tc>
                  <a:txBody>
                    <a:bodyPr/>
                    <a:lstStyle/>
                    <a:p>
                      <a:r>
                        <a:rPr sz="1875" b="1">
                          <a:solidFill>
                            <a:srgbClr val="FFFFFF"/>
                          </a:solidFill>
                          <a:latin typeface="Arial"/>
                          <a:ea typeface="Arial"/>
                          <a:cs typeface="Arial"/>
                        </a:rPr>
                        <a:t>Kết quả</a:t>
                      </a:r>
                    </a:p>
                  </a:txBody>
                  <a:tcPr marL="91440" marR="91440" marT="45720" marB="45720">
                    <a:solidFill>
                      <a:srgbClr val="173A35"/>
                    </a:solidFill>
                  </a:tcPr>
                </a:tc>
                <a:tc>
                  <a:txBody>
                    <a:bodyPr/>
                    <a:lstStyle/>
                    <a:p>
                      <a:r>
                        <a:rPr sz="1875" b="1">
                          <a:solidFill>
                            <a:srgbClr val="FFFFFF"/>
                          </a:solidFill>
                          <a:latin typeface="Arial"/>
                          <a:ea typeface="Arial"/>
                          <a:cs typeface="Arial"/>
                        </a:rPr>
                        <a:t>Phạm vi</a:t>
                      </a:r>
                    </a:p>
                  </a:txBody>
                  <a:tcPr marL="91440" marR="91440" marT="45720" marB="45720">
                    <a:solidFill>
                      <a:srgbClr val="173A35"/>
                    </a:solidFill>
                  </a:tcPr>
                </a:tc>
              </a:tr>
              <a:tr h="571500">
                <a:tc>
                  <a:txBody>
                    <a:bodyPr/>
                    <a:lstStyle/>
                    <a:p>
                      <a:r>
                        <a:rPr sz="1875" b="0">
                          <a:solidFill>
                            <a:srgbClr val="173A35"/>
                          </a:solidFill>
                          <a:latin typeface="Arial"/>
                          <a:ea typeface="Arial"/>
                          <a:cs typeface="Arial"/>
                        </a:rPr>
                        <a:t>Offline sau bổ sung Groq</a:t>
                      </a:r>
                    </a:p>
                  </a:txBody>
                  <a:tcPr marL="91440" marR="91440" marT="45720" marB="45720">
                    <a:solidFill>
                      <a:srgbClr val="FFFFFF"/>
                    </a:solidFill>
                  </a:tcPr>
                </a:tc>
                <a:tc>
                  <a:txBody>
                    <a:bodyPr/>
                    <a:lstStyle/>
                    <a:p>
                      <a:r>
                        <a:rPr sz="1875" b="0">
                          <a:solidFill>
                            <a:srgbClr val="173A35"/>
                          </a:solidFill>
                          <a:latin typeface="Arial"/>
                          <a:ea typeface="Arial"/>
                          <a:cs typeface="Arial"/>
                        </a:rPr>
                        <a:t>193 + 3 subtests</a:t>
                      </a:r>
                    </a:p>
                  </a:txBody>
                  <a:tcPr marL="91440" marR="91440" marT="45720" marB="45720">
                    <a:solidFill>
                      <a:srgbClr val="FFFFFF"/>
                    </a:solidFill>
                  </a:tcPr>
                </a:tc>
                <a:tc>
                  <a:txBody>
                    <a:bodyPr/>
                    <a:lstStyle/>
                    <a:p>
                      <a:r>
                        <a:rPr sz="1875" b="0">
                          <a:solidFill>
                            <a:srgbClr val="173A35"/>
                          </a:solidFill>
                          <a:latin typeface="Arial"/>
                          <a:ea typeface="Arial"/>
                          <a:cs typeface="Arial"/>
                        </a:rPr>
                        <a:t>Ruff đạt; mặc định bỏ qua Docker</a:t>
                      </a:r>
                    </a:p>
                  </a:txBody>
                  <a:tcPr marL="91440" marR="91440" marT="45720" marB="45720">
                    <a:solidFill>
                      <a:srgbClr val="FFFFFF"/>
                    </a:solidFill>
                  </a:tcPr>
                </a:tc>
              </a:tr>
              <a:tr h="571500">
                <a:tc>
                  <a:txBody>
                    <a:bodyPr/>
                    <a:lstStyle/>
                    <a:p>
                      <a:r>
                        <a:rPr sz="1875" b="0">
                          <a:solidFill>
                            <a:srgbClr val="173A35"/>
                          </a:solidFill>
                          <a:latin typeface="Arial"/>
                          <a:ea typeface="Arial"/>
                          <a:cs typeface="Arial"/>
                        </a:rPr>
                        <a:t>Nghiệm thu trước Groq</a:t>
                      </a:r>
                    </a:p>
                  </a:txBody>
                  <a:tcPr marL="91440" marR="91440" marT="45720" marB="45720">
                    <a:solidFill>
                      <a:srgbClr val="E4ECE6"/>
                    </a:solidFill>
                  </a:tcPr>
                </a:tc>
                <a:tc>
                  <a:txBody>
                    <a:bodyPr/>
                    <a:lstStyle/>
                    <a:p>
                      <a:r>
                        <a:rPr sz="1875" b="0">
                          <a:solidFill>
                            <a:srgbClr val="173A35"/>
                          </a:solidFill>
                          <a:latin typeface="Arial"/>
                          <a:ea typeface="Arial"/>
                          <a:cs typeface="Arial"/>
                        </a:rPr>
                        <a:t>27 smoke · 14 Docker</a:t>
                      </a:r>
                    </a:p>
                  </a:txBody>
                  <a:tcPr marL="91440" marR="91440" marT="45720" marB="45720">
                    <a:solidFill>
                      <a:srgbClr val="E4ECE6"/>
                    </a:solidFill>
                  </a:tcPr>
                </a:tc>
                <a:tc>
                  <a:txBody>
                    <a:bodyPr/>
                    <a:lstStyle/>
                    <a:p>
                      <a:r>
                        <a:rPr sz="1875" b="0">
                          <a:solidFill>
                            <a:srgbClr val="173A35"/>
                          </a:solidFill>
                          <a:latin typeface="Arial"/>
                          <a:ea typeface="Arial"/>
                          <a:cs typeface="Arial"/>
                        </a:rPr>
                        <a:t>Fixture do dự án viết</a:t>
                      </a:r>
                    </a:p>
                  </a:txBody>
                  <a:tcPr marL="91440" marR="91440" marT="45720" marB="45720">
                    <a:solidFill>
                      <a:srgbClr val="E4ECE6"/>
                    </a:solidFill>
                  </a:tcPr>
                </a:tc>
              </a:tr>
              <a:tr h="571500">
                <a:tc>
                  <a:txBody>
                    <a:bodyPr/>
                    <a:lstStyle/>
                    <a:p>
                      <a:r>
                        <a:rPr sz="1875" b="0">
                          <a:solidFill>
                            <a:srgbClr val="173A35"/>
                          </a:solidFill>
                          <a:latin typeface="Arial"/>
                          <a:ea typeface="Arial"/>
                          <a:cs typeface="Arial"/>
                        </a:rPr>
                        <a:t>Browser</a:t>
                      </a:r>
                    </a:p>
                  </a:txBody>
                  <a:tcPr marL="91440" marR="91440" marT="45720" marB="45720">
                    <a:solidFill>
                      <a:srgbClr val="FFFFFF"/>
                    </a:solidFill>
                  </a:tcPr>
                </a:tc>
                <a:tc>
                  <a:txBody>
                    <a:bodyPr/>
                    <a:lstStyle/>
                    <a:p>
                      <a:r>
                        <a:rPr sz="1875" b="0">
                          <a:solidFill>
                            <a:srgbClr val="173A35"/>
                          </a:solidFill>
                          <a:latin typeface="Arial"/>
                          <a:ea typeface="Arial"/>
                          <a:cs typeface="Arial"/>
                        </a:rPr>
                        <a:t>1/6 → 6/6 test</a:t>
                      </a:r>
                    </a:p>
                  </a:txBody>
                  <a:tcPr marL="91440" marR="91440" marT="45720" marB="45720">
                    <a:solidFill>
                      <a:srgbClr val="FFFFFF"/>
                    </a:solidFill>
                  </a:tcPr>
                </a:tc>
                <a:tc>
                  <a:txBody>
                    <a:bodyPr/>
                    <a:lstStyle/>
                    <a:p>
                      <a:r>
                        <a:rPr sz="1875" b="0">
                          <a:solidFill>
                            <a:srgbClr val="173A35"/>
                          </a:solidFill>
                          <a:latin typeface="Arial"/>
                          <a:ea typeface="Arial"/>
                          <a:cs typeface="Arial"/>
                        </a:rPr>
                        <a:t>Lưu lịch sử, nhận xét, mở lại</a:t>
                      </a:r>
                    </a:p>
                  </a:txBody>
                  <a:tcPr marL="91440" marR="91440" marT="45720" marB="45720">
                    <a:solidFill>
                      <a:srgbClr val="FFFFFF"/>
                    </a:solidFill>
                  </a:tcPr>
                </a:tc>
              </a:tr>
              <a:tr h="571500">
                <a:tc>
                  <a:txBody>
                    <a:bodyPr/>
                    <a:lstStyle/>
                    <a:p>
                      <a:r>
                        <a:rPr sz="1875" b="0">
                          <a:solidFill>
                            <a:srgbClr val="173A35"/>
                          </a:solidFill>
                          <a:latin typeface="Arial"/>
                          <a:ea typeface="Arial"/>
                          <a:cs typeface="Arial"/>
                        </a:rPr>
                        <a:t>Groq thật</a:t>
                      </a:r>
                    </a:p>
                  </a:txBody>
                  <a:tcPr marL="91440" marR="91440" marT="45720" marB="45720">
                    <a:solidFill>
                      <a:srgbClr val="E4ECE6"/>
                    </a:solidFill>
                  </a:tcPr>
                </a:tc>
                <a:tc>
                  <a:txBody>
                    <a:bodyPr/>
                    <a:lstStyle/>
                    <a:p>
                      <a:r>
                        <a:rPr sz="1875" b="0">
                          <a:solidFill>
                            <a:srgbClr val="173A35"/>
                          </a:solidFill>
                          <a:latin typeface="Arial"/>
                          <a:ea typeface="Arial"/>
                          <a:cs typeface="Arial"/>
                        </a:rPr>
                        <a:t>HTTP 200</a:t>
                      </a:r>
                    </a:p>
                  </a:txBody>
                  <a:tcPr marL="91440" marR="91440" marT="45720" marB="45720">
                    <a:solidFill>
                      <a:srgbClr val="E4ECE6"/>
                    </a:solidFill>
                  </a:tcPr>
                </a:tc>
                <a:tc>
                  <a:txBody>
                    <a:bodyPr/>
                    <a:lstStyle/>
                    <a:p>
                      <a:r>
                        <a:rPr sz="1875" b="0">
                          <a:solidFill>
                            <a:srgbClr val="173A35"/>
                          </a:solidFill>
                          <a:latin typeface="Arial"/>
                          <a:ea typeface="Arial"/>
                          <a:cs typeface="Arial"/>
                        </a:rPr>
                        <a:t>Gợi ý vẫn là draft</a:t>
                      </a:r>
                    </a:p>
                  </a:txBody>
                  <a:tcPr marL="91440" marR="91440" marT="45720" marB="45720">
                    <a:solidFill>
                      <a:srgbClr val="E4ECE6"/>
                    </a:solidFill>
                  </a:tcPr>
                </a:tc>
              </a:tr>
            </a:tbl>
          </a:graphicData>
        </a:graphic>
      </p:graphicFrame>
      <p:sp>
        <p:nvSpPr>
          <p:cNvPr id="4" name="">
            <a:extLst xmlns:a="http://schemas.openxmlformats.org/drawingml/2006/main">
              <a:ext uri="{FF2B5EF4-FFF2-40B4-BE49-F238E27FC236}">
                <a16:creationId xmlns:a16="http://schemas.microsoft.com/office/drawing/2014/main" id="{1CCFE573-6479-4568-BE9A-DAAC3A1D71DE}"/>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15 / 18</a:t>
            </a:r>
          </a:p>
        </p:txBody>
      </p:sp>
      <p:sp>
        <p:nvSpPr>
          <p:cNvPr id="5" name="">
            <a:extLst xmlns:a="http://schemas.openxmlformats.org/drawingml/2006/main">
              <a:ext uri="{FF2B5EF4-FFF2-40B4-BE49-F238E27FC236}">
                <a16:creationId xmlns:a16="http://schemas.microsoft.com/office/drawing/2014/main" id="{BF5DEA6E-E1CC-4372-B168-3076739C49BC}"/>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92E3B45E-9621-4D59-83AD-7BC631C5F5CF}"/>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Test phần mềm đạt không thay thế đánh giá chất lượng phân cụm.</a:t>
            </a:r>
          </a:p>
        </p:txBody>
      </p:sp>
    </p:spTree>
    <p:extLst>
      <p:ext uri="{BB962C8B-B14F-4D97-AF65-F5344CB8AC3E}">
        <p14:creationId xmlns:p14="http://schemas.microsoft.com/office/powerpoint/2010/main" val="2033121076"/>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D9D9C47-CAEA-4B0D-B97A-79E338D71D7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THỰC HÀNH · KHOẢNG 5 PHÚT</a:t>
            </a:r>
          </a:p>
        </p:txBody>
      </p:sp>
      <p:sp>
        <p:nvSpPr>
          <p:cNvPr id="2" name="">
            <a:extLst xmlns:a="http://schemas.openxmlformats.org/drawingml/2006/main">
              <a:ext uri="{FF2B5EF4-FFF2-40B4-BE49-F238E27FC236}">
                <a16:creationId xmlns:a16="http://schemas.microsoft.com/office/drawing/2014/main" id="{4F49F581-824A-4093-B4B3-8E3103D45B2D}"/>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Demo trực tiếp từ bài sai đến phản hồi</a:t>
            </a:r>
          </a:p>
        </p:txBody>
      </p:sp>
      <p:sp>
        <p:nvSpPr>
          <p:cNvPr id="3" name="">
            <a:extLst xmlns:a="http://schemas.openxmlformats.org/drawingml/2006/main">
              <a:ext uri="{FF2B5EF4-FFF2-40B4-BE49-F238E27FC236}">
                <a16:creationId xmlns:a16="http://schemas.microsoft.com/office/drawing/2014/main" id="{0CD032C8-0D64-4F67-8110-B2AE3540E9BB}"/>
              </a:ext>
            </a:extLst>
          </p:cNvPr>
          <p:cNvSpPr>
            <a:spLocks xmlns:a="http://schemas.openxmlformats.org/drawingml/2006/main" noGrp="1"/>
          </p:cNvSpPr>
          <p:nvPr/>
        </p:nvSpPr>
        <p:spPr>
          <a:xfrm xmlns:a="http://schemas.openxmlformats.org/drawingml/2006/main">
            <a:off x="685800" y="22574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051F4ECD-2521-4491-979E-DAF404C8019F}"/>
              </a:ext>
            </a:extLst>
          </p:cNvPr>
          <p:cNvSpPr>
            <a:spLocks xmlns:a="http://schemas.openxmlformats.org/drawingml/2006/main" noGrp="1"/>
          </p:cNvSpPr>
          <p:nvPr/>
        </p:nvSpPr>
        <p:spPr>
          <a:xfrm xmlns:a="http://schemas.openxmlformats.org/drawingml/2006/main">
            <a:off x="1524000" y="22574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Học viên</a:t>
            </a:r>
          </a:p>
        </p:txBody>
      </p:sp>
      <p:sp>
        <p:nvSpPr>
          <p:cNvPr id="5" name="">
            <a:extLst xmlns:a="http://schemas.openxmlformats.org/drawingml/2006/main">
              <a:ext uri="{FF2B5EF4-FFF2-40B4-BE49-F238E27FC236}">
                <a16:creationId xmlns:a16="http://schemas.microsoft.com/office/drawing/2014/main" id="{97611D05-8F4B-4F86-9283-72089A938514}"/>
              </a:ext>
            </a:extLst>
          </p:cNvPr>
          <p:cNvSpPr>
            <a:spLocks xmlns:a="http://schemas.openxmlformats.org/drawingml/2006/main" noGrp="1"/>
          </p:cNvSpPr>
          <p:nvPr/>
        </p:nvSpPr>
        <p:spPr>
          <a:xfrm xmlns:a="http://schemas.openxmlformats.org/drawingml/2006/main">
            <a:off x="3714750" y="22574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In 0 → xem test → sửa thành tính tổng</a:t>
            </a:r>
          </a:p>
        </p:txBody>
      </p:sp>
      <p:sp>
        <p:nvSpPr>
          <p:cNvPr id="6" name="">
            <a:extLst xmlns:a="http://schemas.openxmlformats.org/drawingml/2006/main">
              <a:ext uri="{FF2B5EF4-FFF2-40B4-BE49-F238E27FC236}">
                <a16:creationId xmlns:a16="http://schemas.microsoft.com/office/drawing/2014/main" id="{7386ED60-862A-4A53-B993-9853A771E0C3}"/>
              </a:ext>
            </a:extLst>
          </p:cNvPr>
          <p:cNvSpPr>
            <a:spLocks xmlns:a="http://schemas.openxmlformats.org/drawingml/2006/main" noGrp="1"/>
          </p:cNvSpPr>
          <p:nvPr/>
        </p:nvSpPr>
        <p:spPr>
          <a:xfrm xmlns:a="http://schemas.openxmlformats.org/drawingml/2006/main">
            <a:off x="685800" y="2905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A1DD02F8-2C1B-411B-B5E6-F75E73186FAD}"/>
              </a:ext>
            </a:extLst>
          </p:cNvPr>
          <p:cNvSpPr>
            <a:spLocks xmlns:a="http://schemas.openxmlformats.org/drawingml/2006/main" noGrp="1"/>
          </p:cNvSpPr>
          <p:nvPr/>
        </p:nvSpPr>
        <p:spPr>
          <a:xfrm xmlns:a="http://schemas.openxmlformats.org/drawingml/2006/main">
            <a:off x="1524000" y="29051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Giảng viên</a:t>
            </a:r>
          </a:p>
        </p:txBody>
      </p:sp>
      <p:sp>
        <p:nvSpPr>
          <p:cNvPr id="8" name="">
            <a:extLst xmlns:a="http://schemas.openxmlformats.org/drawingml/2006/main">
              <a:ext uri="{FF2B5EF4-FFF2-40B4-BE49-F238E27FC236}">
                <a16:creationId xmlns:a16="http://schemas.microsoft.com/office/drawing/2014/main" id="{4C26930B-35BF-4D3E-B9B9-3AF3A6901837}"/>
              </a:ext>
            </a:extLst>
          </p:cNvPr>
          <p:cNvSpPr>
            <a:spLocks xmlns:a="http://schemas.openxmlformats.org/drawingml/2006/main" noGrp="1"/>
          </p:cNvSpPr>
          <p:nvPr/>
        </p:nvSpPr>
        <p:spPr>
          <a:xfrm xmlns:a="http://schemas.openxmlformats.org/drawingml/2006/main">
            <a:off x="3714750" y="29051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Chọn bài và k=2 → mở cụm và đại diện</a:t>
            </a:r>
          </a:p>
        </p:txBody>
      </p:sp>
      <p:sp>
        <p:nvSpPr>
          <p:cNvPr id="9" name="">
            <a:extLst xmlns:a="http://schemas.openxmlformats.org/drawingml/2006/main">
              <a:ext uri="{FF2B5EF4-FFF2-40B4-BE49-F238E27FC236}">
                <a16:creationId xmlns:a16="http://schemas.microsoft.com/office/drawing/2014/main" id="{805BED0A-3CD4-4F02-820E-8163EDC56169}"/>
              </a:ext>
            </a:extLst>
          </p:cNvPr>
          <p:cNvSpPr>
            <a:spLocks xmlns:a="http://schemas.openxmlformats.org/drawingml/2006/main" noGrp="1"/>
          </p:cNvSpPr>
          <p:nvPr/>
        </p:nvSpPr>
        <p:spPr>
          <a:xfrm xmlns:a="http://schemas.openxmlformats.org/drawingml/2006/main">
            <a:off x="685800" y="35528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FFD6125F-C138-4AAA-8C50-362DDB4197F6}"/>
              </a:ext>
            </a:extLst>
          </p:cNvPr>
          <p:cNvSpPr>
            <a:spLocks xmlns:a="http://schemas.openxmlformats.org/drawingml/2006/main" noGrp="1"/>
          </p:cNvSpPr>
          <p:nvPr/>
        </p:nvSpPr>
        <p:spPr>
          <a:xfrm xmlns:a="http://schemas.openxmlformats.org/drawingml/2006/main">
            <a:off x="1524000" y="35528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Giải thích</a:t>
            </a:r>
          </a:p>
        </p:txBody>
      </p:sp>
      <p:sp>
        <p:nvSpPr>
          <p:cNvPr id="11" name="">
            <a:extLst xmlns:a="http://schemas.openxmlformats.org/drawingml/2006/main">
              <a:ext uri="{FF2B5EF4-FFF2-40B4-BE49-F238E27FC236}">
                <a16:creationId xmlns:a16="http://schemas.microsoft.com/office/drawing/2014/main" id="{59E5F9CA-F1D4-48B5-956C-FD79C3CD6854}"/>
              </a:ext>
            </a:extLst>
          </p:cNvPr>
          <p:cNvSpPr>
            <a:spLocks xmlns:a="http://schemas.openxmlformats.org/drawingml/2006/main" noGrp="1"/>
          </p:cNvSpPr>
          <p:nvPr/>
        </p:nvSpPr>
        <p:spPr>
          <a:xfrm xmlns:a="http://schemas.openxmlformats.org/drawingml/2006/main">
            <a:off x="3714750" y="35528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Chỉ ra OAV → đọc luật IF–THEN</a:t>
            </a:r>
          </a:p>
        </p:txBody>
      </p:sp>
      <p:sp>
        <p:nvSpPr>
          <p:cNvPr id="12" name="">
            <a:extLst xmlns:a="http://schemas.openxmlformats.org/drawingml/2006/main">
              <a:ext uri="{FF2B5EF4-FFF2-40B4-BE49-F238E27FC236}">
                <a16:creationId xmlns:a16="http://schemas.microsoft.com/office/drawing/2014/main" id="{12330A44-5A4E-487E-973C-FE9486939424}"/>
              </a:ext>
            </a:extLst>
          </p:cNvPr>
          <p:cNvSpPr>
            <a:spLocks xmlns:a="http://schemas.openxmlformats.org/drawingml/2006/main" noGrp="1"/>
          </p:cNvSpPr>
          <p:nvPr/>
        </p:nvSpPr>
        <p:spPr>
          <a:xfrm xmlns:a="http://schemas.openxmlformats.org/drawingml/2006/main">
            <a:off x="685800" y="42005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EFC6D712-1716-4CA8-9D4C-BA4930DCFE55}"/>
              </a:ext>
            </a:extLst>
          </p:cNvPr>
          <p:cNvSpPr>
            <a:spLocks xmlns:a="http://schemas.openxmlformats.org/drawingml/2006/main" noGrp="1"/>
          </p:cNvSpPr>
          <p:nvPr/>
        </p:nvSpPr>
        <p:spPr>
          <a:xfrm xmlns:a="http://schemas.openxmlformats.org/drawingml/2006/main">
            <a:off x="1524000" y="42005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Nhận xét</a:t>
            </a:r>
          </a:p>
        </p:txBody>
      </p:sp>
      <p:sp>
        <p:nvSpPr>
          <p:cNvPr id="14" name="">
            <a:extLst xmlns:a="http://schemas.openxmlformats.org/drawingml/2006/main">
              <a:ext uri="{FF2B5EF4-FFF2-40B4-BE49-F238E27FC236}">
                <a16:creationId xmlns:a16="http://schemas.microsoft.com/office/drawing/2014/main" id="{FD439DCA-F89E-4930-9D4C-1419B3E6F68C}"/>
              </a:ext>
            </a:extLst>
          </p:cNvPr>
          <p:cNvSpPr>
            <a:spLocks xmlns:a="http://schemas.openxmlformats.org/drawingml/2006/main" noGrp="1"/>
          </p:cNvSpPr>
          <p:nvPr/>
        </p:nvSpPr>
        <p:spPr>
          <a:xfrm xmlns:a="http://schemas.openxmlformats.org/drawingml/2006/main">
            <a:off x="3714750" y="42005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Gợi ý → kiểm tra → sửa và lưu</a:t>
            </a:r>
          </a:p>
        </p:txBody>
      </p:sp>
      <p:sp>
        <p:nvSpPr>
          <p:cNvPr id="15" name="">
            <a:extLst xmlns:a="http://schemas.openxmlformats.org/drawingml/2006/main">
              <a:ext uri="{FF2B5EF4-FFF2-40B4-BE49-F238E27FC236}">
                <a16:creationId xmlns:a16="http://schemas.microsoft.com/office/drawing/2014/main" id="{9C344127-B020-47C2-9175-FCA07B324057}"/>
              </a:ext>
            </a:extLst>
          </p:cNvPr>
          <p:cNvSpPr>
            <a:spLocks xmlns:a="http://schemas.openxmlformats.org/drawingml/2006/main" noGrp="1"/>
          </p:cNvSpPr>
          <p:nvPr/>
        </p:nvSpPr>
        <p:spPr>
          <a:xfrm xmlns:a="http://schemas.openxmlformats.org/drawingml/2006/main">
            <a:off x="685800" y="48482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735E"/>
                </a:solidFill>
                <a:latin typeface="Arial"/>
                <a:ea typeface="Arial"/>
                <a:cs typeface="Arial"/>
              </a:defRPr>
            </a:pPr>
            <a:r>
              <a:rPr sz="2100" b="1">
                <a:solidFill>
                  <a:srgbClr val="21735E"/>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9C515176-D02C-483C-96DC-FE416E153A37}"/>
              </a:ext>
            </a:extLst>
          </p:cNvPr>
          <p:cNvSpPr>
            <a:spLocks xmlns:a="http://schemas.openxmlformats.org/drawingml/2006/main" noGrp="1"/>
          </p:cNvSpPr>
          <p:nvPr/>
        </p:nvSpPr>
        <p:spPr>
          <a:xfrm xmlns:a="http://schemas.openxmlformats.org/drawingml/2006/main">
            <a:off x="1524000" y="4848225"/>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A35"/>
                </a:solidFill>
                <a:latin typeface="Arial"/>
                <a:ea typeface="Arial"/>
                <a:cs typeface="Arial"/>
              </a:defRPr>
            </a:pPr>
            <a:r>
              <a:rPr sz="2100" b="1">
                <a:solidFill>
                  <a:srgbClr val="173A35"/>
                </a:solidFill>
                <a:latin typeface="Arial"/>
                <a:ea typeface="Arial"/>
                <a:cs typeface="Arial"/>
              </a:rPr>
              <a:t>Bằng chứng</a:t>
            </a:r>
          </a:p>
        </p:txBody>
      </p:sp>
      <p:sp>
        <p:nvSpPr>
          <p:cNvPr id="17" name="">
            <a:extLst xmlns:a="http://schemas.openxmlformats.org/drawingml/2006/main">
              <a:ext uri="{FF2B5EF4-FFF2-40B4-BE49-F238E27FC236}">
                <a16:creationId xmlns:a16="http://schemas.microsoft.com/office/drawing/2014/main" id="{5D34C5BD-840A-4D3D-AB7E-589AE35BE109}"/>
              </a:ext>
            </a:extLst>
          </p:cNvPr>
          <p:cNvSpPr>
            <a:spLocks xmlns:a="http://schemas.openxmlformats.org/drawingml/2006/main" noGrp="1"/>
          </p:cNvSpPr>
          <p:nvPr/>
        </p:nvSpPr>
        <p:spPr>
          <a:xfrm xmlns:a="http://schemas.openxmlformats.org/drawingml/2006/main">
            <a:off x="3714750" y="48482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5E"/>
                </a:solidFill>
                <a:latin typeface="Arial"/>
                <a:ea typeface="Arial"/>
                <a:cs typeface="Arial"/>
              </a:defRPr>
            </a:pPr>
            <a:r>
              <a:rPr sz="2100" b="0">
                <a:solidFill>
                  <a:srgbClr val="52625E"/>
                </a:solidFill>
                <a:latin typeface="Arial"/>
                <a:ea typeface="Arial"/>
                <a:cs typeface="Arial"/>
              </a:rPr>
              <a:t>Tải lại báo cáo → xuất JSON</a:t>
            </a:r>
          </a:p>
        </p:txBody>
      </p:sp>
      <p:sp>
        <p:nvSpPr>
          <p:cNvPr id="18" name="">
            <a:extLst xmlns:a="http://schemas.openxmlformats.org/drawingml/2006/main">
              <a:ext uri="{FF2B5EF4-FFF2-40B4-BE49-F238E27FC236}">
                <a16:creationId xmlns:a16="http://schemas.microsoft.com/office/drawing/2014/main" id="{C71792F0-95C2-4693-B0B1-C1873CE6B02E}"/>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16 / 18</a:t>
            </a:r>
          </a:p>
        </p:txBody>
      </p:sp>
      <p:sp>
        <p:nvSpPr>
          <p:cNvPr id="19" name="">
            <a:extLst xmlns:a="http://schemas.openxmlformats.org/drawingml/2006/main">
              <a:ext uri="{FF2B5EF4-FFF2-40B4-BE49-F238E27FC236}">
                <a16:creationId xmlns:a16="http://schemas.microsoft.com/office/drawing/2014/main" id="{DB6D4189-BD7B-4632-AC93-3A8006A6B987}"/>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20" name="">
            <a:extLst xmlns:a="http://schemas.openxmlformats.org/drawingml/2006/main">
              <a:ext uri="{FF2B5EF4-FFF2-40B4-BE49-F238E27FC236}">
                <a16:creationId xmlns:a16="http://schemas.microsoft.com/office/drawing/2014/main" id="{14569D16-085F-49FD-A393-FBBBAC956329}"/>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Khởi động: ./misconceptions-prototype/start_demo.ps1 · cổng 8767</a:t>
            </a:r>
          </a:p>
        </p:txBody>
      </p:sp>
    </p:spTree>
    <p:extLst>
      <p:ext uri="{BB962C8B-B14F-4D97-AF65-F5344CB8AC3E}">
        <p14:creationId xmlns:p14="http://schemas.microsoft.com/office/powerpoint/2010/main" val="1762694998"/>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3FC86CD-64B7-479C-85A4-E323BA6DF11B}"/>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1735E"/>
                </a:solidFill>
                <a:latin typeface="Arial"/>
                <a:ea typeface="Arial"/>
                <a:cs typeface="Arial"/>
              </a:defRPr>
            </a:pPr>
            <a:r>
              <a:rPr sz="1350" b="1">
                <a:solidFill>
                  <a:srgbClr val="21735E"/>
                </a:solidFill>
                <a:latin typeface="Arial"/>
                <a:ea typeface="Arial"/>
                <a:cs typeface="Arial"/>
              </a:rPr>
              <a:t>ĐÁNH GIÁ</a:t>
            </a:r>
          </a:p>
        </p:txBody>
      </p:sp>
      <p:sp>
        <p:nvSpPr>
          <p:cNvPr id="2" name="">
            <a:extLst xmlns:a="http://schemas.openxmlformats.org/drawingml/2006/main">
              <a:ext uri="{FF2B5EF4-FFF2-40B4-BE49-F238E27FC236}">
                <a16:creationId xmlns:a16="http://schemas.microsoft.com/office/drawing/2014/main" id="{3D9470DB-030F-464A-8675-76C6C4A8F9B5}"/>
              </a:ext>
            </a:extLst>
          </p:cNvPr>
          <p:cNvSpPr>
            <a:spLocks xmlns:a="http://schemas.openxmlformats.org/drawingml/2006/main" noGrp="1"/>
          </p:cNvSpPr>
          <p:nvPr/>
        </p:nvSpPr>
        <p:spPr>
          <a:xfrm xmlns:a="http://schemas.openxmlformats.org/drawingml/2006/main">
            <a:off x="685800" y="8667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A35"/>
                </a:solidFill>
                <a:latin typeface="Arial"/>
                <a:ea typeface="Arial"/>
                <a:cs typeface="Arial"/>
              </a:defRPr>
            </a:pPr>
            <a:r>
              <a:rPr sz="3300" b="1">
                <a:solidFill>
                  <a:srgbClr val="173A35"/>
                </a:solidFill>
                <a:latin typeface="Arial"/>
                <a:ea typeface="Arial"/>
                <a:cs typeface="Arial"/>
              </a:rPr>
              <a:t>Phần đã làm và giới hạn còn lại</a:t>
            </a:r>
          </a:p>
        </p:txBody>
      </p:sp>
      <p:sp>
        <p:nvSpPr>
          <p:cNvPr id="3" name="">
            <a:extLst xmlns:a="http://schemas.openxmlformats.org/drawingml/2006/main">
              <a:ext uri="{FF2B5EF4-FFF2-40B4-BE49-F238E27FC236}">
                <a16:creationId xmlns:a16="http://schemas.microsoft.com/office/drawing/2014/main" id="{FCB0A141-060B-46E3-9C1A-0082190F7F16}"/>
              </a:ext>
            </a:extLst>
          </p:cNvPr>
          <p:cNvSpPr>
            <a:spLocks xmlns:a="http://schemas.openxmlformats.org/drawingml/2006/main" noGrp="1"/>
          </p:cNvSpPr>
          <p:nvPr/>
        </p:nvSpPr>
        <p:spPr>
          <a:xfrm xmlns:a="http://schemas.openxmlformats.org/drawingml/2006/main">
            <a:off x="6858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Đã có bằng chứng</a:t>
            </a:r>
          </a:p>
        </p:txBody>
      </p:sp>
      <p:sp>
        <p:nvSpPr>
          <p:cNvPr id="4" name="">
            <a:extLst xmlns:a="http://schemas.openxmlformats.org/drawingml/2006/main">
              <a:ext uri="{FF2B5EF4-FFF2-40B4-BE49-F238E27FC236}">
                <a16:creationId xmlns:a16="http://schemas.microsoft.com/office/drawing/2014/main" id="{8B23464F-B88E-4CFE-A980-124C9C95B2F6}"/>
              </a:ext>
            </a:extLst>
          </p:cNvPr>
          <p:cNvSpPr>
            <a:spLocks xmlns:a="http://schemas.openxmlformats.org/drawingml/2006/main" noGrp="1"/>
          </p:cNvSpPr>
          <p:nvPr/>
        </p:nvSpPr>
        <p:spPr>
          <a:xfrm xmlns:a="http://schemas.openxmlformats.org/drawingml/2006/main">
            <a:off x="6477000" y="2333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1735E"/>
                </a:solidFill>
                <a:latin typeface="Arial"/>
                <a:ea typeface="Arial"/>
                <a:cs typeface="Arial"/>
              </a:defRPr>
            </a:pPr>
            <a:r>
              <a:rPr sz="2550" b="1">
                <a:solidFill>
                  <a:srgbClr val="21735E"/>
                </a:solidFill>
                <a:latin typeface="Arial"/>
                <a:ea typeface="Arial"/>
                <a:cs typeface="Arial"/>
              </a:rPr>
              <a:t>Chưa được chứng minh</a:t>
            </a:r>
          </a:p>
        </p:txBody>
      </p:sp>
      <p:sp>
        <p:nvSpPr>
          <p:cNvPr id="5" name="">
            <a:extLst xmlns:a="http://schemas.openxmlformats.org/drawingml/2006/main">
              <a:ext uri="{FF2B5EF4-FFF2-40B4-BE49-F238E27FC236}">
                <a16:creationId xmlns:a16="http://schemas.microsoft.com/office/drawing/2014/main" id="{3BA3D6AA-4D4B-4F77-B84C-A4E44CAAA5B1}"/>
              </a:ext>
            </a:extLst>
          </p:cNvPr>
          <p:cNvSpPr>
            <a:spLocks xmlns:a="http://schemas.openxmlformats.org/drawingml/2006/main" noGrp="1"/>
          </p:cNvSpPr>
          <p:nvPr/>
        </p:nvSpPr>
        <p:spPr>
          <a:xfrm xmlns:a="http://schemas.openxmlformats.org/drawingml/2006/main">
            <a:off x="6858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OAV → cụm → luật → phản hồi</a:t>
            </a:r>
          </a:p>
        </p:txBody>
      </p:sp>
      <p:sp>
        <p:nvSpPr>
          <p:cNvPr id="6" name="">
            <a:extLst xmlns:a="http://schemas.openxmlformats.org/drawingml/2006/main">
              <a:ext uri="{FF2B5EF4-FFF2-40B4-BE49-F238E27FC236}">
                <a16:creationId xmlns:a16="http://schemas.microsoft.com/office/drawing/2014/main" id="{6E1F1864-8A3F-4BB1-8184-336440061F17}"/>
              </a:ext>
            </a:extLst>
          </p:cNvPr>
          <p:cNvSpPr>
            <a:spLocks xmlns:a="http://schemas.openxmlformats.org/drawingml/2006/main" noGrp="1"/>
          </p:cNvSpPr>
          <p:nvPr/>
        </p:nvSpPr>
        <p:spPr>
          <a:xfrm xmlns:a="http://schemas.openxmlformats.org/drawingml/2006/main">
            <a:off x="6858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Dữ liệu công khai và audit baseline</a:t>
            </a:r>
          </a:p>
        </p:txBody>
      </p:sp>
      <p:sp>
        <p:nvSpPr>
          <p:cNvPr id="7" name="">
            <a:extLst xmlns:a="http://schemas.openxmlformats.org/drawingml/2006/main">
              <a:ext uri="{FF2B5EF4-FFF2-40B4-BE49-F238E27FC236}">
                <a16:creationId xmlns:a16="http://schemas.microsoft.com/office/drawing/2014/main" id="{2B0BB8D0-ED04-41E5-8485-6647BA86C06E}"/>
              </a:ext>
            </a:extLst>
          </p:cNvPr>
          <p:cNvSpPr>
            <a:spLocks xmlns:a="http://schemas.openxmlformats.org/drawingml/2006/main" noGrp="1"/>
          </p:cNvSpPr>
          <p:nvPr/>
        </p:nvSpPr>
        <p:spPr>
          <a:xfrm xmlns:a="http://schemas.openxmlformats.org/drawingml/2006/main">
            <a:off x="6858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App C17, lưu lịch sử, AI viết nháp</a:t>
            </a:r>
          </a:p>
        </p:txBody>
      </p:sp>
      <p:sp>
        <p:nvSpPr>
          <p:cNvPr id="8" name="">
            <a:extLst xmlns:a="http://schemas.openxmlformats.org/drawingml/2006/main">
              <a:ext uri="{FF2B5EF4-FFF2-40B4-BE49-F238E27FC236}">
                <a16:creationId xmlns:a16="http://schemas.microsoft.com/office/drawing/2014/main" id="{3EFBACF5-319B-46ED-980B-07AC267E6E6F}"/>
              </a:ext>
            </a:extLst>
          </p:cNvPr>
          <p:cNvSpPr>
            <a:spLocks xmlns:a="http://schemas.openxmlformats.org/drawingml/2006/main" noGrp="1"/>
          </p:cNvSpPr>
          <p:nvPr/>
        </p:nvSpPr>
        <p:spPr>
          <a:xfrm xmlns:a="http://schemas.openxmlformats.org/drawingml/2006/main">
            <a:off x="6477000" y="32004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Đúng quan niệm sai của người học</a:t>
            </a:r>
          </a:p>
        </p:txBody>
      </p:sp>
      <p:sp>
        <p:nvSpPr>
          <p:cNvPr id="9" name="">
            <a:extLst xmlns:a="http://schemas.openxmlformats.org/drawingml/2006/main">
              <a:ext uri="{FF2B5EF4-FFF2-40B4-BE49-F238E27FC236}">
                <a16:creationId xmlns:a16="http://schemas.microsoft.com/office/drawing/2014/main" id="{E4934050-F2A0-4413-B147-5EA85B20670E}"/>
              </a:ext>
            </a:extLst>
          </p:cNvPr>
          <p:cNvSpPr>
            <a:spLocks xmlns:a="http://schemas.openxmlformats.org/drawingml/2006/main" noGrp="1"/>
          </p:cNvSpPr>
          <p:nvPr/>
        </p:nvSpPr>
        <p:spPr>
          <a:xfrm xmlns:a="http://schemas.openxmlformats.org/drawingml/2006/main">
            <a:off x="6477000" y="39528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Chất lượng trên sealed test</a:t>
            </a:r>
          </a:p>
        </p:txBody>
      </p:sp>
      <p:sp>
        <p:nvSpPr>
          <p:cNvPr id="10" name="">
            <a:extLst xmlns:a="http://schemas.openxmlformats.org/drawingml/2006/main">
              <a:ext uri="{FF2B5EF4-FFF2-40B4-BE49-F238E27FC236}">
                <a16:creationId xmlns:a16="http://schemas.microsoft.com/office/drawing/2014/main" id="{8FD64CE3-C31A-4A11-9E2D-2B2FEFD3891A}"/>
              </a:ext>
            </a:extLst>
          </p:cNvPr>
          <p:cNvSpPr>
            <a:spLocks xmlns:a="http://schemas.openxmlformats.org/drawingml/2006/main" noGrp="1"/>
          </p:cNvSpPr>
          <p:nvPr/>
        </p:nvSpPr>
        <p:spPr>
          <a:xfrm xmlns:a="http://schemas.openxmlformats.org/drawingml/2006/main">
            <a:off x="6477000" y="4705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A35"/>
                </a:solidFill>
                <a:latin typeface="Arial"/>
                <a:ea typeface="Arial"/>
                <a:cs typeface="Arial"/>
              </a:defRPr>
            </a:pPr>
            <a:r>
              <a:rPr sz="2100" b="0">
                <a:solidFill>
                  <a:srgbClr val="173A35"/>
                </a:solidFill>
                <a:latin typeface="Arial"/>
                <a:ea typeface="Arial"/>
                <a:cs typeface="Arial"/>
              </a:rPr>
              <a:t>Hiệu quả học tập trong lớp thật</a:t>
            </a:r>
          </a:p>
        </p:txBody>
      </p:sp>
      <p:sp>
        <p:nvSpPr>
          <p:cNvPr id="11" name="">
            <a:extLst xmlns:a="http://schemas.openxmlformats.org/drawingml/2006/main">
              <a:ext uri="{FF2B5EF4-FFF2-40B4-BE49-F238E27FC236}">
                <a16:creationId xmlns:a16="http://schemas.microsoft.com/office/drawing/2014/main" id="{E73E8A17-0950-4720-A093-D57200530FF2}"/>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17 / 18</a:t>
            </a:r>
          </a:p>
        </p:txBody>
      </p:sp>
      <p:sp>
        <p:nvSpPr>
          <p:cNvPr id="12" name="">
            <a:extLst xmlns:a="http://schemas.openxmlformats.org/drawingml/2006/main">
              <a:ext uri="{FF2B5EF4-FFF2-40B4-BE49-F238E27FC236}">
                <a16:creationId xmlns:a16="http://schemas.microsoft.com/office/drawing/2014/main" id="{D7B7D6B2-D271-4738-9BBB-0FB9FC9F0DA8}"/>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25E"/>
                </a:solidFill>
                <a:latin typeface="Arial"/>
                <a:ea typeface="Arial"/>
                <a:cs typeface="Arial"/>
              </a:defRPr>
            </a:pPr>
            <a:r>
              <a:rPr sz="1050" b="0">
                <a:solidFill>
                  <a:srgbClr val="52625E"/>
                </a:solidFill>
                <a:latin typeface="Arial"/>
                <a:ea typeface="Arial"/>
                <a:cs typeface="Arial"/>
              </a:rPr>
              <a:t>AAI  ·  Misconceptions Clustering  ·  28.09.2026</a:t>
            </a:r>
          </a:p>
        </p:txBody>
      </p:sp>
      <p:sp>
        <p:nvSpPr>
          <p:cNvPr id="13" name="">
            <a:extLst xmlns:a="http://schemas.openxmlformats.org/drawingml/2006/main">
              <a:ext uri="{FF2B5EF4-FFF2-40B4-BE49-F238E27FC236}">
                <a16:creationId xmlns:a16="http://schemas.microsoft.com/office/drawing/2014/main" id="{F688FB55-1545-40E9-A2BC-6024673709A9}"/>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735E"/>
                </a:solidFill>
                <a:latin typeface="Arial"/>
                <a:ea typeface="Arial"/>
                <a:cs typeface="Arial"/>
              </a:defRPr>
            </a:pPr>
            <a:r>
              <a:rPr sz="1875" b="1">
                <a:solidFill>
                  <a:srgbClr val="21735E"/>
                </a:solidFill>
                <a:latin typeface="Arial"/>
                <a:ea typeface="Arial"/>
                <a:cs typeface="Arial"/>
              </a:rPr>
              <a:t>Ưu tiên tiếp theo: oracle audit → gold độc lập → so sánh phương pháp.</a:t>
            </a:r>
          </a:p>
        </p:txBody>
      </p:sp>
    </p:spTree>
    <p:extLst>
      <p:ext uri="{BB962C8B-B14F-4D97-AF65-F5344CB8AC3E}">
        <p14:creationId xmlns:p14="http://schemas.microsoft.com/office/powerpoint/2010/main" val="118978346"/>
      </p:ext>
    </p:extLst>
  </p:cSld>
</p:sld>
</file>

<file path=ppt/slides/slide18.xml><?xml version="1.0" encoding="utf-8"?>
<p:sld xmlns:p="http://schemas.openxmlformats.org/presentationml/2006/main">
  <p:cSld>
    <p:bg>
      <p:bgPr>
        <a:solidFill xmlns:a="http://schemas.openxmlformats.org/drawingml/2006/main">
          <a:srgbClr val="173A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915A9B-4980-4AF5-BD3A-7C7EAA4CA2A6}"/>
              </a:ext>
            </a:extLst>
          </p:cNvPr>
          <p:cNvSpPr>
            <a:spLocks xmlns:a="http://schemas.openxmlformats.org/drawingml/2006/main" noGrp="1"/>
          </p:cNvSpPr>
          <p:nvPr/>
        </p:nvSpPr>
        <p:spPr>
          <a:xfrm xmlns:a="http://schemas.openxmlformats.org/drawingml/2006/main">
            <a:off x="685800" y="552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9D6C7"/>
                </a:solidFill>
                <a:latin typeface="Arial"/>
                <a:ea typeface="Arial"/>
                <a:cs typeface="Arial"/>
              </a:defRPr>
            </a:pPr>
            <a:r>
              <a:rPr sz="1350" b="1">
                <a:solidFill>
                  <a:srgbClr val="B9D6C7"/>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8202DD00-D98F-43A8-BD15-54F2E57C9893}"/>
              </a:ext>
            </a:extLst>
          </p:cNvPr>
          <p:cNvSpPr>
            <a:spLocks xmlns:a="http://schemas.openxmlformats.org/drawingml/2006/main" noGrp="1"/>
          </p:cNvSpPr>
          <p:nvPr/>
        </p:nvSpPr>
        <p:spPr>
          <a:xfrm xmlns:a="http://schemas.openxmlformats.org/drawingml/2006/main">
            <a:off x="685800" y="12001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Giúp giảng viên bắt đầu từ bằng chứng</a:t>
            </a:r>
          </a:p>
        </p:txBody>
      </p:sp>
      <p:sp>
        <p:nvSpPr>
          <p:cNvPr id="3" name="">
            <a:extLst xmlns:a="http://schemas.openxmlformats.org/drawingml/2006/main">
              <a:ext uri="{FF2B5EF4-FFF2-40B4-BE49-F238E27FC236}">
                <a16:creationId xmlns:a16="http://schemas.microsoft.com/office/drawing/2014/main" id="{526316B3-560F-4DEE-947A-7E0ACFE36B93}"/>
              </a:ext>
            </a:extLst>
          </p:cNvPr>
          <p:cNvSpPr>
            <a:spLocks xmlns:a="http://schemas.openxmlformats.org/drawingml/2006/main" noGrp="1"/>
          </p:cNvSpPr>
          <p:nvPr/>
        </p:nvSpPr>
        <p:spPr>
          <a:xfrm xmlns:a="http://schemas.openxmlformats.org/drawingml/2006/main">
            <a:off x="685800" y="3048000"/>
            <a:ext cx="10477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DFEAE1"/>
                </a:solidFill>
                <a:latin typeface="Arial"/>
                <a:ea typeface="Arial"/>
                <a:cs typeface="Arial"/>
              </a:defRPr>
            </a:pPr>
            <a:r>
              <a:rPr sz="2700" b="0">
                <a:solidFill>
                  <a:srgbClr val="DFEAE1"/>
                </a:solidFill>
                <a:latin typeface="Arial"/>
                <a:ea typeface="Arial"/>
                <a:cs typeface="Arial"/>
              </a:rPr>
              <a:t>Gom các biểu hiện gần nhau</a:t>
            </a:r>
          </a:p>
          <a:p xmlns:a="http://schemas.openxmlformats.org/drawingml/2006/main">
            <a:pPr>
              <a:defRPr sz="2700" b="0">
                <a:solidFill>
                  <a:srgbClr val="DFEAE1"/>
                </a:solidFill>
                <a:latin typeface="Arial"/>
                <a:ea typeface="Arial"/>
                <a:cs typeface="Arial"/>
              </a:defRPr>
            </a:pPr>
            <a:r>
              <a:rPr sz="2700" b="0">
                <a:solidFill>
                  <a:srgbClr val="DFEAE1"/>
                </a:solidFill>
                <a:latin typeface="Arial"/>
                <a:ea typeface="Arial"/>
                <a:cs typeface="Arial"/>
              </a:rPr>
              <a:t>Giải thích bằng bài đại diện và luật</a:t>
            </a:r>
          </a:p>
          <a:p xmlns:a="http://schemas.openxmlformats.org/drawingml/2006/main">
            <a:pPr>
              <a:defRPr sz="2700" b="0">
                <a:solidFill>
                  <a:srgbClr val="DFEAE1"/>
                </a:solidFill>
                <a:latin typeface="Arial"/>
                <a:ea typeface="Arial"/>
                <a:cs typeface="Arial"/>
              </a:defRPr>
            </a:pPr>
            <a:r>
              <a:rPr sz="2700" b="0">
                <a:solidFill>
                  <a:srgbClr val="DFEAE1"/>
                </a:solidFill>
                <a:latin typeface="Arial"/>
                <a:ea typeface="Arial"/>
                <a:cs typeface="Arial"/>
              </a:rPr>
              <a:t>Giữ việc xác nhận trong tay người dạy</a:t>
            </a:r>
          </a:p>
        </p:txBody>
      </p:sp>
      <p:sp>
        <p:nvSpPr>
          <p:cNvPr id="4" name="">
            <a:extLst xmlns:a="http://schemas.openxmlformats.org/drawingml/2006/main">
              <a:ext uri="{FF2B5EF4-FFF2-40B4-BE49-F238E27FC236}">
                <a16:creationId xmlns:a16="http://schemas.microsoft.com/office/drawing/2014/main" id="{6AA275F0-BB33-4581-A494-CB74ADD77AC5}"/>
              </a:ext>
            </a:extLst>
          </p:cNvPr>
          <p:cNvSpPr>
            <a:spLocks xmlns:a="http://schemas.openxmlformats.org/drawingml/2006/main" noGrp="1"/>
          </p:cNvSpPr>
          <p:nvPr/>
        </p:nvSpPr>
        <p:spPr>
          <a:xfrm xmlns:a="http://schemas.openxmlformats.org/drawingml/2006/main">
            <a:off x="10763250" y="646747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CD0C7"/>
                </a:solidFill>
                <a:latin typeface="Arial"/>
                <a:ea typeface="Arial"/>
                <a:cs typeface="Arial"/>
              </a:defRPr>
            </a:pPr>
            <a:r>
              <a:rPr sz="1050" b="0">
                <a:solidFill>
                  <a:srgbClr val="BCD0C7"/>
                </a:solidFill>
                <a:latin typeface="Arial"/>
                <a:ea typeface="Arial"/>
                <a:cs typeface="Arial"/>
              </a:rPr>
              <a:t>18 / 18</a:t>
            </a:r>
          </a:p>
        </p:txBody>
      </p:sp>
      <p:sp>
        <p:nvSpPr>
          <p:cNvPr id="5" name="">
            <a:extLst xmlns:a="http://schemas.openxmlformats.org/drawingml/2006/main">
              <a:ext uri="{FF2B5EF4-FFF2-40B4-BE49-F238E27FC236}">
                <a16:creationId xmlns:a16="http://schemas.microsoft.com/office/drawing/2014/main" id="{20305C39-E5C9-4147-853D-42A75929505D}"/>
              </a:ext>
            </a:extLst>
          </p:cNvPr>
          <p:cNvSpPr>
            <a:spLocks xmlns:a="http://schemas.openxmlformats.org/drawingml/2006/main" noGrp="1"/>
          </p:cNvSpPr>
          <p:nvPr/>
        </p:nvSpPr>
        <p:spPr>
          <a:xfrm xmlns:a="http://schemas.openxmlformats.org/drawingml/2006/main">
            <a:off x="685800" y="64674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CD0C7"/>
                </a:solidFill>
                <a:latin typeface="Arial"/>
                <a:ea typeface="Arial"/>
                <a:cs typeface="Arial"/>
              </a:defRPr>
            </a:pPr>
            <a:r>
              <a:rPr sz="1050" b="0">
                <a:solidFill>
                  <a:srgbClr val="BCD0C7"/>
                </a:solidFill>
                <a:latin typeface="Arial"/>
                <a:ea typeface="Arial"/>
                <a:cs typeface="Arial"/>
              </a:rPr>
              <a:t>AAI  ·  Misconceptions Clustering  ·  28.09.2026</a:t>
            </a:r>
          </a:p>
        </p:txBody>
      </p:sp>
      <p:sp>
        <p:nvSpPr>
          <p:cNvPr id="6" name="">
            <a:extLst xmlns:a="http://schemas.openxmlformats.org/drawingml/2006/main">
              <a:ext uri="{FF2B5EF4-FFF2-40B4-BE49-F238E27FC236}">
                <a16:creationId xmlns:a16="http://schemas.microsoft.com/office/drawing/2014/main" id="{FB26F59C-664C-483D-B371-4F1854366764}"/>
              </a:ext>
            </a:extLst>
          </p:cNvPr>
          <p:cNvSpPr>
            <a:spLocks xmlns:a="http://schemas.openxmlformats.org/drawingml/2006/main" noGrp="1"/>
          </p:cNvSpPr>
          <p:nvPr/>
        </p:nvSpPr>
        <p:spPr>
          <a:xfrm xmlns:a="http://schemas.openxmlformats.org/drawingml/2006/main">
            <a:off x="685800" y="58007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Đề 5 · OAV → phân cụm → IF–THEN → phản hồi giảng dạy</a:t>
            </a:r>
          </a:p>
        </p:txBody>
      </p:sp>
    </p:spTree>
    <p:extLst>
      <p:ext uri="{BB962C8B-B14F-4D97-AF65-F5344CB8AC3E}">
        <p14:creationId xmlns:p14="http://schemas.microsoft.com/office/powerpoint/2010/main" val="407415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2026-09-28T03:15:02.6600000Z</dcterms:created>
  <dcterms:modified xsi:type="dcterms:W3CDTF">2026-09-28T03:15:02.6600000Z</dcterms:modified>
</coreProperties>
</file>